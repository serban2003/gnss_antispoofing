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>
        <p:scale>
          <a:sx n="100" d="100"/>
          <a:sy n="100" d="100"/>
        </p:scale>
        <p:origin x="254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7210FE-A946-4986-921A-B25B9F8E5181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69770A-DBE1-4A4A-B35A-4EC4E8DB37A8}">
      <dgm:prSet phldrT="[Text]" phldr="0" custT="1"/>
      <dgm:spPr/>
      <dgm:t>
        <a:bodyPr/>
        <a:lstStyle/>
        <a:p>
          <a:r>
            <a:rPr lang="ro-RO" sz="2000" b="1" noProof="0" dirty="0"/>
            <a:t>Date aparent valide</a:t>
          </a:r>
        </a:p>
      </dgm:t>
    </dgm:pt>
    <dgm:pt modelId="{275AC5AE-AFB2-4F4D-B225-A4FB1CEE865F}" type="parTrans" cxnId="{AD005DC1-EA77-4DD4-9FE1-6D9993B39FEA}">
      <dgm:prSet/>
      <dgm:spPr/>
      <dgm:t>
        <a:bodyPr/>
        <a:lstStyle/>
        <a:p>
          <a:endParaRPr lang="en-US"/>
        </a:p>
      </dgm:t>
    </dgm:pt>
    <dgm:pt modelId="{7139A34C-0451-49F6-87C5-0BE67F363A84}" type="sibTrans" cxnId="{AD005DC1-EA77-4DD4-9FE1-6D9993B39FEA}">
      <dgm:prSet phldrT="01" phldr="0"/>
      <dgm:spPr/>
      <dgm:t>
        <a:bodyPr/>
        <a:lstStyle/>
        <a:p>
          <a:endParaRPr lang="en-US"/>
        </a:p>
      </dgm:t>
    </dgm:pt>
    <dgm:pt modelId="{5AA38794-2F8D-4B54-ADC5-BFBE15302529}">
      <dgm:prSet phldrT="[Text]" custT="1"/>
      <dgm:spPr/>
      <dgm:t>
        <a:bodyPr/>
        <a:lstStyle/>
        <a:p>
          <a:pPr>
            <a:buNone/>
          </a:pPr>
          <a:r>
            <a:rPr lang="ro-RO" sz="2000" b="1" noProof="0" dirty="0"/>
            <a:t>Verificare cu IMU</a:t>
          </a:r>
          <a:endParaRPr lang="ro-RO" sz="2000" noProof="0" dirty="0"/>
        </a:p>
      </dgm:t>
    </dgm:pt>
    <dgm:pt modelId="{64B9403C-3389-4E9E-82F2-C62541DC1979}" type="parTrans" cxnId="{8B8A70FB-2DA1-4F92-BEC2-FEF5B942D474}">
      <dgm:prSet/>
      <dgm:spPr/>
      <dgm:t>
        <a:bodyPr/>
        <a:lstStyle/>
        <a:p>
          <a:endParaRPr lang="en-US"/>
        </a:p>
      </dgm:t>
    </dgm:pt>
    <dgm:pt modelId="{34A7F70E-67F9-4FC9-9228-D9BE1E085FDE}" type="sibTrans" cxnId="{8B8A70FB-2DA1-4F92-BEC2-FEF5B942D474}">
      <dgm:prSet phldrT="02" phldr="0"/>
      <dgm:spPr/>
      <dgm:t>
        <a:bodyPr/>
        <a:lstStyle/>
        <a:p>
          <a:endParaRPr lang="en-US"/>
        </a:p>
      </dgm:t>
    </dgm:pt>
    <dgm:pt modelId="{5C9AE9A7-E21E-46A5-BB77-290AD462D62B}">
      <dgm:prSet phldrT="[Text]" custT="1"/>
      <dgm:spPr/>
      <dgm:t>
        <a:bodyPr/>
        <a:lstStyle/>
        <a:p>
          <a:pPr>
            <a:buNone/>
          </a:pPr>
          <a:r>
            <a:rPr lang="ro-RO" sz="2000" b="1" noProof="0" dirty="0"/>
            <a:t>Diagnostic pe </a:t>
          </a:r>
          <a:r>
            <a:rPr lang="ro-RO" sz="2000" b="1" noProof="0" dirty="0" err="1"/>
            <a:t>flag</a:t>
          </a:r>
          <a:r>
            <a:rPr lang="ro-RO" sz="2000" b="1" noProof="0" dirty="0"/>
            <a:t>-uri</a:t>
          </a:r>
          <a:endParaRPr lang="ro-RO" sz="2000" noProof="0" dirty="0"/>
        </a:p>
      </dgm:t>
    </dgm:pt>
    <dgm:pt modelId="{0FAB4040-56FA-4355-9D8B-CC62ABC11910}" type="parTrans" cxnId="{E1EF9BB1-08F1-44E4-9551-C43437AC1DA4}">
      <dgm:prSet/>
      <dgm:spPr/>
      <dgm:t>
        <a:bodyPr/>
        <a:lstStyle/>
        <a:p>
          <a:endParaRPr lang="en-US"/>
        </a:p>
      </dgm:t>
    </dgm:pt>
    <dgm:pt modelId="{4D778575-89B7-4B0C-A72A-DEF2B6B0F23F}" type="sibTrans" cxnId="{E1EF9BB1-08F1-44E4-9551-C43437AC1DA4}">
      <dgm:prSet phldrT="03" phldr="0"/>
      <dgm:spPr/>
      <dgm:t>
        <a:bodyPr/>
        <a:lstStyle/>
        <a:p>
          <a:endParaRPr lang="en-US"/>
        </a:p>
      </dgm:t>
    </dgm:pt>
    <dgm:pt modelId="{A9631FD9-E999-43C8-8C58-8CC5B2BDBE96}">
      <dgm:prSet phldrT="[Text]" phldr="0"/>
      <dgm:spPr/>
      <dgm:t>
        <a:bodyPr/>
        <a:lstStyle/>
        <a:p>
          <a:pPr>
            <a:buNone/>
          </a:pPr>
          <a:r>
            <a:rPr lang="ro-RO" noProof="0" dirty="0"/>
            <a:t>Un pachet GNSS poate avea structură corectă, dar valori fizic incoerente.</a:t>
          </a:r>
        </a:p>
      </dgm:t>
    </dgm:pt>
    <dgm:pt modelId="{B816F627-5A82-4245-8534-D3E2F80E320F}" type="parTrans" cxnId="{80134A6C-0EA1-4F03-A0A3-7CB85CCF7E46}">
      <dgm:prSet/>
      <dgm:spPr/>
      <dgm:t>
        <a:bodyPr/>
        <a:lstStyle/>
        <a:p>
          <a:endParaRPr lang="en-US"/>
        </a:p>
      </dgm:t>
    </dgm:pt>
    <dgm:pt modelId="{C40F9A60-D9A1-4560-ADA5-9E95EA338E86}" type="sibTrans" cxnId="{80134A6C-0EA1-4F03-A0A3-7CB85CCF7E46}">
      <dgm:prSet/>
      <dgm:spPr/>
      <dgm:t>
        <a:bodyPr/>
        <a:lstStyle/>
        <a:p>
          <a:endParaRPr lang="en-US"/>
        </a:p>
      </dgm:t>
    </dgm:pt>
    <dgm:pt modelId="{EEFFA503-47A6-40CA-9195-EEB89FBF9480}">
      <dgm:prSet phldrT="[Text]"/>
      <dgm:spPr/>
      <dgm:t>
        <a:bodyPr/>
        <a:lstStyle/>
        <a:p>
          <a:pPr>
            <a:buNone/>
          </a:pPr>
          <a:r>
            <a:rPr lang="ro-RO" noProof="0" dirty="0"/>
            <a:t>IMU-</a:t>
          </a:r>
          <a:r>
            <a:rPr lang="ro-RO" noProof="0" dirty="0" err="1"/>
            <a:t>ul</a:t>
          </a:r>
          <a:r>
            <a:rPr lang="ro-RO" noProof="0" dirty="0"/>
            <a:t> oferă o referință independentă pentru dinamica sistemului.</a:t>
          </a:r>
        </a:p>
      </dgm:t>
    </dgm:pt>
    <dgm:pt modelId="{B48C19EF-0431-48EE-8F96-41BAD322173B}" type="parTrans" cxnId="{C98FE101-AB10-4323-B19B-02CC21D257AC}">
      <dgm:prSet/>
      <dgm:spPr/>
      <dgm:t>
        <a:bodyPr/>
        <a:lstStyle/>
        <a:p>
          <a:endParaRPr lang="en-US"/>
        </a:p>
      </dgm:t>
    </dgm:pt>
    <dgm:pt modelId="{56FBAE7E-4F39-4234-8290-2F7AED8B9D5A}" type="sibTrans" cxnId="{C98FE101-AB10-4323-B19B-02CC21D257AC}">
      <dgm:prSet/>
      <dgm:spPr/>
      <dgm:t>
        <a:bodyPr/>
        <a:lstStyle/>
        <a:p>
          <a:endParaRPr lang="en-US"/>
        </a:p>
      </dgm:t>
    </dgm:pt>
    <dgm:pt modelId="{D3A4D10F-000C-4315-8862-EC9DD1366933}">
      <dgm:prSet phldrT="[Text]"/>
      <dgm:spPr/>
      <dgm:t>
        <a:bodyPr/>
        <a:lstStyle/>
        <a:p>
          <a:pPr>
            <a:buNone/>
          </a:pPr>
          <a:r>
            <a:rPr lang="ro-RO" noProof="0" dirty="0"/>
            <a:t>Fiecare anomalie este semnalată separat: timp, poziție, viteză, IMU, </a:t>
          </a:r>
          <a:r>
            <a:rPr lang="ro-RO" noProof="0" dirty="0" err="1"/>
            <a:t>heading</a:t>
          </a:r>
          <a:r>
            <a:rPr lang="ro-RO" noProof="0" dirty="0"/>
            <a:t>, </a:t>
          </a:r>
          <a:r>
            <a:rPr lang="ro-RO" noProof="0" dirty="0" err="1"/>
            <a:t>stale</a:t>
          </a:r>
          <a:r>
            <a:rPr lang="ro-RO" noProof="0" dirty="0"/>
            <a:t> sau </a:t>
          </a:r>
          <a:r>
            <a:rPr lang="ro-RO" noProof="0" dirty="0" err="1"/>
            <a:t>frozen</a:t>
          </a:r>
          <a:r>
            <a:rPr lang="ro-RO" noProof="0" dirty="0"/>
            <a:t>.</a:t>
          </a:r>
        </a:p>
      </dgm:t>
    </dgm:pt>
    <dgm:pt modelId="{BA479437-A6A6-4402-9D62-B0FB43ACBA44}" type="parTrans" cxnId="{E286FF25-34DA-4664-B871-AFFF37D0D2F5}">
      <dgm:prSet/>
      <dgm:spPr/>
      <dgm:t>
        <a:bodyPr/>
        <a:lstStyle/>
        <a:p>
          <a:endParaRPr lang="en-US"/>
        </a:p>
      </dgm:t>
    </dgm:pt>
    <dgm:pt modelId="{A83F3F8B-483B-4A38-819B-D57F2EA6FA92}" type="sibTrans" cxnId="{E286FF25-34DA-4664-B871-AFFF37D0D2F5}">
      <dgm:prSet/>
      <dgm:spPr/>
      <dgm:t>
        <a:bodyPr/>
        <a:lstStyle/>
        <a:p>
          <a:endParaRPr lang="en-US"/>
        </a:p>
      </dgm:t>
    </dgm:pt>
    <dgm:pt modelId="{A8C10909-1B56-4D91-8163-6AD9EF414B53}" type="pres">
      <dgm:prSet presAssocID="{417210FE-A946-4986-921A-B25B9F8E5181}" presName="Name0" presStyleCnt="0">
        <dgm:presLayoutVars>
          <dgm:dir/>
          <dgm:animLvl val="lvl"/>
          <dgm:resizeHandles val="exact"/>
        </dgm:presLayoutVars>
      </dgm:prSet>
      <dgm:spPr/>
    </dgm:pt>
    <dgm:pt modelId="{25318EA8-069A-481E-94D2-8BE907372F84}" type="pres">
      <dgm:prSet presAssocID="{5269770A-DBE1-4A4A-B35A-4EC4E8DB37A8}" presName="linNode" presStyleCnt="0"/>
      <dgm:spPr/>
    </dgm:pt>
    <dgm:pt modelId="{E6667945-D2ED-4869-9546-CE15CFB537F4}" type="pres">
      <dgm:prSet presAssocID="{5269770A-DBE1-4A4A-B35A-4EC4E8DB37A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660114-0722-47B5-8464-B76C5DCA437D}" type="pres">
      <dgm:prSet presAssocID="{5269770A-DBE1-4A4A-B35A-4EC4E8DB37A8}" presName="descendantText" presStyleLbl="alignAccFollowNode1" presStyleIdx="0" presStyleCnt="3">
        <dgm:presLayoutVars>
          <dgm:bulletEnabled val="1"/>
        </dgm:presLayoutVars>
      </dgm:prSet>
      <dgm:spPr/>
    </dgm:pt>
    <dgm:pt modelId="{685C4492-814A-496E-9715-A5F537D52C5A}" type="pres">
      <dgm:prSet presAssocID="{7139A34C-0451-49F6-87C5-0BE67F363A84}" presName="sp" presStyleCnt="0"/>
      <dgm:spPr/>
    </dgm:pt>
    <dgm:pt modelId="{0884570C-D2A0-40AA-93B6-65084B799944}" type="pres">
      <dgm:prSet presAssocID="{5AA38794-2F8D-4B54-ADC5-BFBE15302529}" presName="linNode" presStyleCnt="0"/>
      <dgm:spPr/>
    </dgm:pt>
    <dgm:pt modelId="{ED0FD421-9DBE-46F6-B9FB-239523C88D94}" type="pres">
      <dgm:prSet presAssocID="{5AA38794-2F8D-4B54-ADC5-BFBE1530252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D03E785-FE2B-4E05-B5A7-5DC7AD35BA52}" type="pres">
      <dgm:prSet presAssocID="{5AA38794-2F8D-4B54-ADC5-BFBE15302529}" presName="descendantText" presStyleLbl="alignAccFollowNode1" presStyleIdx="1" presStyleCnt="3">
        <dgm:presLayoutVars>
          <dgm:bulletEnabled val="1"/>
        </dgm:presLayoutVars>
      </dgm:prSet>
      <dgm:spPr/>
    </dgm:pt>
    <dgm:pt modelId="{3435F7D4-E0B9-4B5C-9E58-1D87FC64B93E}" type="pres">
      <dgm:prSet presAssocID="{34A7F70E-67F9-4FC9-9228-D9BE1E085FDE}" presName="sp" presStyleCnt="0"/>
      <dgm:spPr/>
    </dgm:pt>
    <dgm:pt modelId="{E0020572-1892-4BA7-BD34-95219741F571}" type="pres">
      <dgm:prSet presAssocID="{5C9AE9A7-E21E-46A5-BB77-290AD462D62B}" presName="linNode" presStyleCnt="0"/>
      <dgm:spPr/>
    </dgm:pt>
    <dgm:pt modelId="{B6EC7C15-0901-4810-8B5A-040CB6D48A64}" type="pres">
      <dgm:prSet presAssocID="{5C9AE9A7-E21E-46A5-BB77-290AD462D62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FB2B56E-5CAE-4B9D-AB76-D0B401356A37}" type="pres">
      <dgm:prSet presAssocID="{5C9AE9A7-E21E-46A5-BB77-290AD462D62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98FE101-AB10-4323-B19B-02CC21D257AC}" srcId="{5AA38794-2F8D-4B54-ADC5-BFBE15302529}" destId="{EEFFA503-47A6-40CA-9195-EEB89FBF9480}" srcOrd="0" destOrd="0" parTransId="{B48C19EF-0431-48EE-8F96-41BAD322173B}" sibTransId="{56FBAE7E-4F39-4234-8290-2F7AED8B9D5A}"/>
    <dgm:cxn modelId="{E286FF25-34DA-4664-B871-AFFF37D0D2F5}" srcId="{5C9AE9A7-E21E-46A5-BB77-290AD462D62B}" destId="{D3A4D10F-000C-4315-8862-EC9DD1366933}" srcOrd="0" destOrd="0" parTransId="{BA479437-A6A6-4402-9D62-B0FB43ACBA44}" sibTransId="{A83F3F8B-483B-4A38-819B-D57F2EA6FA92}"/>
    <dgm:cxn modelId="{0C3B1F2D-140B-448B-AF9B-E607B02FC9A1}" type="presOf" srcId="{D3A4D10F-000C-4315-8862-EC9DD1366933}" destId="{0FB2B56E-5CAE-4B9D-AB76-D0B401356A37}" srcOrd="0" destOrd="0" presId="urn:microsoft.com/office/officeart/2005/8/layout/vList5"/>
    <dgm:cxn modelId="{DF6D4F40-5E2C-4262-81A2-07978FC40D08}" type="presOf" srcId="{A9631FD9-E999-43C8-8C58-8CC5B2BDBE96}" destId="{94660114-0722-47B5-8464-B76C5DCA437D}" srcOrd="0" destOrd="0" presId="urn:microsoft.com/office/officeart/2005/8/layout/vList5"/>
    <dgm:cxn modelId="{E7BE4B61-A6E4-45D8-8E12-6833AF3A6270}" type="presOf" srcId="{5269770A-DBE1-4A4A-B35A-4EC4E8DB37A8}" destId="{E6667945-D2ED-4869-9546-CE15CFB537F4}" srcOrd="0" destOrd="0" presId="urn:microsoft.com/office/officeart/2005/8/layout/vList5"/>
    <dgm:cxn modelId="{830AF36B-9953-49F1-949A-417E2857F8FC}" type="presOf" srcId="{EEFFA503-47A6-40CA-9195-EEB89FBF9480}" destId="{3D03E785-FE2B-4E05-B5A7-5DC7AD35BA52}" srcOrd="0" destOrd="0" presId="urn:microsoft.com/office/officeart/2005/8/layout/vList5"/>
    <dgm:cxn modelId="{80134A6C-0EA1-4F03-A0A3-7CB85CCF7E46}" srcId="{5269770A-DBE1-4A4A-B35A-4EC4E8DB37A8}" destId="{A9631FD9-E999-43C8-8C58-8CC5B2BDBE96}" srcOrd="0" destOrd="0" parTransId="{B816F627-5A82-4245-8534-D3E2F80E320F}" sibTransId="{C40F9A60-D9A1-4560-ADA5-9E95EA338E86}"/>
    <dgm:cxn modelId="{58AD067A-1C45-49A7-87E4-8AADA5C8A7CD}" type="presOf" srcId="{5C9AE9A7-E21E-46A5-BB77-290AD462D62B}" destId="{B6EC7C15-0901-4810-8B5A-040CB6D48A64}" srcOrd="0" destOrd="0" presId="urn:microsoft.com/office/officeart/2005/8/layout/vList5"/>
    <dgm:cxn modelId="{E1EF9BB1-08F1-44E4-9551-C43437AC1DA4}" srcId="{417210FE-A946-4986-921A-B25B9F8E5181}" destId="{5C9AE9A7-E21E-46A5-BB77-290AD462D62B}" srcOrd="2" destOrd="0" parTransId="{0FAB4040-56FA-4355-9D8B-CC62ABC11910}" sibTransId="{4D778575-89B7-4B0C-A72A-DEF2B6B0F23F}"/>
    <dgm:cxn modelId="{AD005DC1-EA77-4DD4-9FE1-6D9993B39FEA}" srcId="{417210FE-A946-4986-921A-B25B9F8E5181}" destId="{5269770A-DBE1-4A4A-B35A-4EC4E8DB37A8}" srcOrd="0" destOrd="0" parTransId="{275AC5AE-AFB2-4F4D-B225-A4FB1CEE865F}" sibTransId="{7139A34C-0451-49F6-87C5-0BE67F363A84}"/>
    <dgm:cxn modelId="{C9E229CF-25A4-4EC6-AA8E-D866303DE6FD}" type="presOf" srcId="{417210FE-A946-4986-921A-B25B9F8E5181}" destId="{A8C10909-1B56-4D91-8163-6AD9EF414B53}" srcOrd="0" destOrd="0" presId="urn:microsoft.com/office/officeart/2005/8/layout/vList5"/>
    <dgm:cxn modelId="{D71BAAEC-114C-402A-B8B4-8D98294CF3CB}" type="presOf" srcId="{5AA38794-2F8D-4B54-ADC5-BFBE15302529}" destId="{ED0FD421-9DBE-46F6-B9FB-239523C88D94}" srcOrd="0" destOrd="0" presId="urn:microsoft.com/office/officeart/2005/8/layout/vList5"/>
    <dgm:cxn modelId="{8B8A70FB-2DA1-4F92-BEC2-FEF5B942D474}" srcId="{417210FE-A946-4986-921A-B25B9F8E5181}" destId="{5AA38794-2F8D-4B54-ADC5-BFBE15302529}" srcOrd="1" destOrd="0" parTransId="{64B9403C-3389-4E9E-82F2-C62541DC1979}" sibTransId="{34A7F70E-67F9-4FC9-9228-D9BE1E085FDE}"/>
    <dgm:cxn modelId="{10B2AF79-7E39-4E66-9B80-9A1CD1851E2C}" type="presParOf" srcId="{A8C10909-1B56-4D91-8163-6AD9EF414B53}" destId="{25318EA8-069A-481E-94D2-8BE907372F84}" srcOrd="0" destOrd="0" presId="urn:microsoft.com/office/officeart/2005/8/layout/vList5"/>
    <dgm:cxn modelId="{9D35FCA3-9E9F-4691-9BD5-A7091FC2C784}" type="presParOf" srcId="{25318EA8-069A-481E-94D2-8BE907372F84}" destId="{E6667945-D2ED-4869-9546-CE15CFB537F4}" srcOrd="0" destOrd="0" presId="urn:microsoft.com/office/officeart/2005/8/layout/vList5"/>
    <dgm:cxn modelId="{E561F9CE-3D36-4072-A8F6-42CA1BD2F010}" type="presParOf" srcId="{25318EA8-069A-481E-94D2-8BE907372F84}" destId="{94660114-0722-47B5-8464-B76C5DCA437D}" srcOrd="1" destOrd="0" presId="urn:microsoft.com/office/officeart/2005/8/layout/vList5"/>
    <dgm:cxn modelId="{37F77095-FED2-485F-A403-3F3EE9633AAA}" type="presParOf" srcId="{A8C10909-1B56-4D91-8163-6AD9EF414B53}" destId="{685C4492-814A-496E-9715-A5F537D52C5A}" srcOrd="1" destOrd="0" presId="urn:microsoft.com/office/officeart/2005/8/layout/vList5"/>
    <dgm:cxn modelId="{41A75B8C-CE20-4C96-98F0-2CBFD0A92E60}" type="presParOf" srcId="{A8C10909-1B56-4D91-8163-6AD9EF414B53}" destId="{0884570C-D2A0-40AA-93B6-65084B799944}" srcOrd="2" destOrd="0" presId="urn:microsoft.com/office/officeart/2005/8/layout/vList5"/>
    <dgm:cxn modelId="{5C1B6DA8-731D-41D0-8326-C45C4BED753E}" type="presParOf" srcId="{0884570C-D2A0-40AA-93B6-65084B799944}" destId="{ED0FD421-9DBE-46F6-B9FB-239523C88D94}" srcOrd="0" destOrd="0" presId="urn:microsoft.com/office/officeart/2005/8/layout/vList5"/>
    <dgm:cxn modelId="{216B4D18-2702-4823-8A19-5AF3A8CADEDC}" type="presParOf" srcId="{0884570C-D2A0-40AA-93B6-65084B799944}" destId="{3D03E785-FE2B-4E05-B5A7-5DC7AD35BA52}" srcOrd="1" destOrd="0" presId="urn:microsoft.com/office/officeart/2005/8/layout/vList5"/>
    <dgm:cxn modelId="{826C6291-7C63-4469-A903-40950BA73D11}" type="presParOf" srcId="{A8C10909-1B56-4D91-8163-6AD9EF414B53}" destId="{3435F7D4-E0B9-4B5C-9E58-1D87FC64B93E}" srcOrd="3" destOrd="0" presId="urn:microsoft.com/office/officeart/2005/8/layout/vList5"/>
    <dgm:cxn modelId="{9A012969-AE10-4EC0-818F-C8DD3A3B6985}" type="presParOf" srcId="{A8C10909-1B56-4D91-8163-6AD9EF414B53}" destId="{E0020572-1892-4BA7-BD34-95219741F571}" srcOrd="4" destOrd="0" presId="urn:microsoft.com/office/officeart/2005/8/layout/vList5"/>
    <dgm:cxn modelId="{0DA9C400-60A1-41B0-9ABA-40EF144AD62D}" type="presParOf" srcId="{E0020572-1892-4BA7-BD34-95219741F571}" destId="{B6EC7C15-0901-4810-8B5A-040CB6D48A64}" srcOrd="0" destOrd="0" presId="urn:microsoft.com/office/officeart/2005/8/layout/vList5"/>
    <dgm:cxn modelId="{6A8B9528-368F-4E68-83B5-8FE8463E8C88}" type="presParOf" srcId="{E0020572-1892-4BA7-BD34-95219741F571}" destId="{0FB2B56E-5CAE-4B9D-AB76-D0B401356A3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EADB60-7AC4-4694-9A10-6A2953759471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5A31C0-8036-420F-BEC5-2CF7C5815A15}">
      <dgm:prSet phldrT="[Text]" phldr="0"/>
      <dgm:spPr/>
      <dgm:t>
        <a:bodyPr/>
        <a:lstStyle/>
        <a:p>
          <a:r>
            <a:rPr lang="ro-RO" noProof="0" dirty="0"/>
            <a:t>1</a:t>
          </a:r>
        </a:p>
      </dgm:t>
    </dgm:pt>
    <dgm:pt modelId="{C2A8A522-8727-4BF3-AE3B-CAA212C31ADE}" type="parTrans" cxnId="{406C638B-976F-408F-95C3-55F91BDDEC05}">
      <dgm:prSet/>
      <dgm:spPr/>
      <dgm:t>
        <a:bodyPr/>
        <a:lstStyle/>
        <a:p>
          <a:endParaRPr lang="en-US"/>
        </a:p>
      </dgm:t>
    </dgm:pt>
    <dgm:pt modelId="{33552AF9-C357-4967-BF9F-87AD759B911F}" type="sibTrans" cxnId="{406C638B-976F-408F-95C3-55F91BDDEC05}">
      <dgm:prSet/>
      <dgm:spPr/>
      <dgm:t>
        <a:bodyPr/>
        <a:lstStyle/>
        <a:p>
          <a:endParaRPr lang="en-US"/>
        </a:p>
      </dgm:t>
    </dgm:pt>
    <dgm:pt modelId="{A1C8F68D-71EE-4A7B-9165-E6FF9FDE77DB}">
      <dgm:prSet phldrT="[Text]"/>
      <dgm:spPr/>
      <dgm:t>
        <a:bodyPr/>
        <a:lstStyle/>
        <a:p>
          <a:r>
            <a:rPr lang="ro-RO" noProof="0" dirty="0"/>
            <a:t>Vizualizare simulare</a:t>
          </a:r>
        </a:p>
      </dgm:t>
    </dgm:pt>
    <dgm:pt modelId="{7E8E36D9-FDCA-42E1-99CC-1196450F04FD}" type="parTrans" cxnId="{DF482B77-F0DE-4553-9265-FADDE808D995}">
      <dgm:prSet/>
      <dgm:spPr/>
      <dgm:t>
        <a:bodyPr/>
        <a:lstStyle/>
        <a:p>
          <a:endParaRPr lang="en-US"/>
        </a:p>
      </dgm:t>
    </dgm:pt>
    <dgm:pt modelId="{15F17117-6F9D-421B-912C-BC1D3F38ACF3}" type="sibTrans" cxnId="{DF482B77-F0DE-4553-9265-FADDE808D995}">
      <dgm:prSet/>
      <dgm:spPr/>
      <dgm:t>
        <a:bodyPr/>
        <a:lstStyle/>
        <a:p>
          <a:endParaRPr lang="en-US"/>
        </a:p>
      </dgm:t>
    </dgm:pt>
    <dgm:pt modelId="{F8F89B58-318A-4322-942B-6E91C41C366F}">
      <dgm:prSet phldrT="[Text]"/>
      <dgm:spPr/>
      <dgm:t>
        <a:bodyPr/>
        <a:lstStyle/>
        <a:p>
          <a:r>
            <a:rPr lang="ro-RO" noProof="0" dirty="0"/>
            <a:t>  42 Cam, 42 </a:t>
          </a:r>
          <a:r>
            <a:rPr lang="ro-RO" noProof="0" dirty="0" err="1"/>
            <a:t>Map</a:t>
          </a:r>
          <a:r>
            <a:rPr lang="ro-RO" noProof="0" dirty="0"/>
            <a:t> și Unit </a:t>
          </a:r>
          <a:r>
            <a:rPr lang="ro-RO" noProof="0" dirty="0" err="1"/>
            <a:t>Sphere</a:t>
          </a:r>
          <a:r>
            <a:rPr lang="ro-RO" noProof="0" dirty="0"/>
            <a:t> </a:t>
          </a:r>
          <a:r>
            <a:rPr lang="ro-RO" noProof="0" dirty="0" err="1"/>
            <a:t>Viewer</a:t>
          </a:r>
          <a:r>
            <a:rPr lang="ro-RO" noProof="0" dirty="0"/>
            <a:t> permit verificarea contextului simulat.</a:t>
          </a:r>
        </a:p>
      </dgm:t>
    </dgm:pt>
    <dgm:pt modelId="{31CE6951-EBEF-4CE9-8791-EDA119A5A145}" type="parTrans" cxnId="{1E496DB4-51E4-4B7F-9443-6ECC2317DB53}">
      <dgm:prSet/>
      <dgm:spPr/>
      <dgm:t>
        <a:bodyPr/>
        <a:lstStyle/>
        <a:p>
          <a:endParaRPr lang="en-US"/>
        </a:p>
      </dgm:t>
    </dgm:pt>
    <dgm:pt modelId="{A530061B-8C60-4D00-9995-CD5C96E4E85C}" type="sibTrans" cxnId="{1E496DB4-51E4-4B7F-9443-6ECC2317DB53}">
      <dgm:prSet/>
      <dgm:spPr/>
      <dgm:t>
        <a:bodyPr/>
        <a:lstStyle/>
        <a:p>
          <a:endParaRPr lang="en-US"/>
        </a:p>
      </dgm:t>
    </dgm:pt>
    <dgm:pt modelId="{DBDA4F02-E9BC-4E95-8B35-7331F1938BF1}">
      <dgm:prSet phldrT="[Text]" phldr="0"/>
      <dgm:spPr/>
      <dgm:t>
        <a:bodyPr/>
        <a:lstStyle/>
        <a:p>
          <a:r>
            <a:rPr lang="ro-RO" noProof="0" dirty="0"/>
            <a:t>2</a:t>
          </a:r>
        </a:p>
      </dgm:t>
    </dgm:pt>
    <dgm:pt modelId="{2B68995B-BDD9-4685-8B3B-C7884C6EF824}" type="parTrans" cxnId="{9AC11E5E-EDA6-4AC9-A101-E4F2B807459E}">
      <dgm:prSet/>
      <dgm:spPr/>
      <dgm:t>
        <a:bodyPr/>
        <a:lstStyle/>
        <a:p>
          <a:endParaRPr lang="en-US"/>
        </a:p>
      </dgm:t>
    </dgm:pt>
    <dgm:pt modelId="{6529373C-D111-4E8A-BB53-109032457050}" type="sibTrans" cxnId="{9AC11E5E-EDA6-4AC9-A101-E4F2B807459E}">
      <dgm:prSet/>
      <dgm:spPr/>
      <dgm:t>
        <a:bodyPr/>
        <a:lstStyle/>
        <a:p>
          <a:endParaRPr lang="en-US"/>
        </a:p>
      </dgm:t>
    </dgm:pt>
    <dgm:pt modelId="{CE937FCA-70F8-4DB2-AB59-2116E5C7DFD1}">
      <dgm:prSet phldrT="[Text]"/>
      <dgm:spPr/>
      <dgm:t>
        <a:bodyPr/>
        <a:lstStyle/>
        <a:p>
          <a:r>
            <a:rPr lang="ro-RO" noProof="0" dirty="0"/>
            <a:t>Telemetrie în </a:t>
          </a:r>
          <a:r>
            <a:rPr lang="ro-RO" noProof="0" dirty="0" err="1"/>
            <a:t>Packet</a:t>
          </a:r>
          <a:r>
            <a:rPr lang="ro-RO" noProof="0" dirty="0"/>
            <a:t> </a:t>
          </a:r>
          <a:r>
            <a:rPr lang="ro-RO" noProof="0" dirty="0" err="1"/>
            <a:t>Viewer</a:t>
          </a:r>
          <a:endParaRPr lang="ro-RO" noProof="0" dirty="0"/>
        </a:p>
      </dgm:t>
    </dgm:pt>
    <dgm:pt modelId="{B684BECC-A47F-4EED-BB08-3FB818796AB6}" type="parTrans" cxnId="{08CC59A3-50EA-4BF2-924C-6FF97FD7240B}">
      <dgm:prSet/>
      <dgm:spPr/>
      <dgm:t>
        <a:bodyPr/>
        <a:lstStyle/>
        <a:p>
          <a:endParaRPr lang="en-US"/>
        </a:p>
      </dgm:t>
    </dgm:pt>
    <dgm:pt modelId="{7D7F6288-103F-40D0-B7AD-F5BC957B0ADC}" type="sibTrans" cxnId="{08CC59A3-50EA-4BF2-924C-6FF97FD7240B}">
      <dgm:prSet/>
      <dgm:spPr/>
      <dgm:t>
        <a:bodyPr/>
        <a:lstStyle/>
        <a:p>
          <a:endParaRPr lang="en-US"/>
        </a:p>
      </dgm:t>
    </dgm:pt>
    <dgm:pt modelId="{7496ED7E-A84B-4988-93D0-832285508D5B}">
      <dgm:prSet phldrT="[Text]"/>
      <dgm:spPr/>
      <dgm:t>
        <a:bodyPr/>
        <a:lstStyle/>
        <a:p>
          <a:r>
            <a:rPr lang="ro-RO" noProof="0" dirty="0"/>
            <a:t>   Pachetele NOVATEL_OEM615_DATA_TLM și GENERIC_IMU_DATA_TLM sunt inspectate câmp cu câmp.</a:t>
          </a:r>
        </a:p>
      </dgm:t>
    </dgm:pt>
    <dgm:pt modelId="{FD089C17-CE22-498E-A799-B82C2309A941}" type="parTrans" cxnId="{B28D0C31-45C1-4154-AD42-39533F65BAF5}">
      <dgm:prSet/>
      <dgm:spPr/>
      <dgm:t>
        <a:bodyPr/>
        <a:lstStyle/>
        <a:p>
          <a:endParaRPr lang="en-US"/>
        </a:p>
      </dgm:t>
    </dgm:pt>
    <dgm:pt modelId="{A4AC7440-BA9E-4AEC-BE6E-D968BB0782E9}" type="sibTrans" cxnId="{B28D0C31-45C1-4154-AD42-39533F65BAF5}">
      <dgm:prSet/>
      <dgm:spPr/>
      <dgm:t>
        <a:bodyPr/>
        <a:lstStyle/>
        <a:p>
          <a:endParaRPr lang="en-US"/>
        </a:p>
      </dgm:t>
    </dgm:pt>
    <dgm:pt modelId="{B194FD22-7F8D-4EEF-B455-120B07121919}">
      <dgm:prSet phldrT="[Text]" phldr="0"/>
      <dgm:spPr/>
      <dgm:t>
        <a:bodyPr/>
        <a:lstStyle/>
        <a:p>
          <a:r>
            <a:rPr lang="ro-RO" noProof="0" dirty="0"/>
            <a:t>3</a:t>
          </a:r>
        </a:p>
      </dgm:t>
    </dgm:pt>
    <dgm:pt modelId="{B8EDA80B-7C7D-4BE0-8C50-DFD62746AACA}" type="parTrans" cxnId="{1E2E2543-F00C-4E9B-8787-C9CDDE02D0FD}">
      <dgm:prSet/>
      <dgm:spPr/>
      <dgm:t>
        <a:bodyPr/>
        <a:lstStyle/>
        <a:p>
          <a:endParaRPr lang="en-US"/>
        </a:p>
      </dgm:t>
    </dgm:pt>
    <dgm:pt modelId="{2A667C73-639B-4C84-898D-05858C261883}" type="sibTrans" cxnId="{1E2E2543-F00C-4E9B-8787-C9CDDE02D0FD}">
      <dgm:prSet/>
      <dgm:spPr/>
      <dgm:t>
        <a:bodyPr/>
        <a:lstStyle/>
        <a:p>
          <a:endParaRPr lang="en-US"/>
        </a:p>
      </dgm:t>
    </dgm:pt>
    <dgm:pt modelId="{C2CD2EBA-A9D3-4E5C-882B-31B9EF8BE0BF}">
      <dgm:prSet phldrT="[Text]"/>
      <dgm:spPr/>
      <dgm:t>
        <a:bodyPr/>
        <a:lstStyle/>
        <a:p>
          <a:r>
            <a:rPr lang="ro-RO" noProof="0" dirty="0" err="1"/>
            <a:t>Logare</a:t>
          </a:r>
          <a:r>
            <a:rPr lang="ro-RO" noProof="0" dirty="0"/>
            <a:t> în fișier binar</a:t>
          </a:r>
        </a:p>
      </dgm:t>
    </dgm:pt>
    <dgm:pt modelId="{923A8142-F3FC-4487-9993-700818A66050}" type="parTrans" cxnId="{B4BAF998-B040-461D-972B-E12BFF4EB3DC}">
      <dgm:prSet/>
      <dgm:spPr/>
      <dgm:t>
        <a:bodyPr/>
        <a:lstStyle/>
        <a:p>
          <a:endParaRPr lang="en-US"/>
        </a:p>
      </dgm:t>
    </dgm:pt>
    <dgm:pt modelId="{B831DCAD-C902-40E0-B4EA-7C30E3B65E02}" type="sibTrans" cxnId="{B4BAF998-B040-461D-972B-E12BFF4EB3DC}">
      <dgm:prSet/>
      <dgm:spPr/>
      <dgm:t>
        <a:bodyPr/>
        <a:lstStyle/>
        <a:p>
          <a:endParaRPr lang="en-US"/>
        </a:p>
      </dgm:t>
    </dgm:pt>
    <dgm:pt modelId="{1BD8B66A-D672-4CEB-A991-1A7AD0654F3D}">
      <dgm:prSet phldrT="[Text]"/>
      <dgm:spPr/>
      <dgm:t>
        <a:bodyPr/>
        <a:lstStyle/>
        <a:p>
          <a:r>
            <a:rPr lang="ro-RO" noProof="0" dirty="0"/>
            <a:t>COSMOS salvează pachetele pentru </a:t>
          </a:r>
          <a:r>
            <a:rPr lang="ro-RO" noProof="0" dirty="0" err="1"/>
            <a:t>parsare</a:t>
          </a:r>
          <a:r>
            <a:rPr lang="ro-RO" noProof="0" dirty="0"/>
            <a:t> ulterioară și generare de scenarii.</a:t>
          </a:r>
        </a:p>
      </dgm:t>
    </dgm:pt>
    <dgm:pt modelId="{136FC165-41BF-484B-B1EE-1BEF5BB44FD8}" type="parTrans" cxnId="{06E212F8-91C9-426C-B0FA-D3C271599F23}">
      <dgm:prSet/>
      <dgm:spPr/>
      <dgm:t>
        <a:bodyPr/>
        <a:lstStyle/>
        <a:p>
          <a:endParaRPr lang="en-US"/>
        </a:p>
      </dgm:t>
    </dgm:pt>
    <dgm:pt modelId="{DB9E12BB-87A3-4C2C-8E31-A57E955C5AA6}" type="sibTrans" cxnId="{06E212F8-91C9-426C-B0FA-D3C271599F23}">
      <dgm:prSet/>
      <dgm:spPr/>
      <dgm:t>
        <a:bodyPr/>
        <a:lstStyle/>
        <a:p>
          <a:endParaRPr lang="en-US"/>
        </a:p>
      </dgm:t>
    </dgm:pt>
    <dgm:pt modelId="{CE5E7D94-9503-4FA1-8171-B30A04518128}">
      <dgm:prSet phldrT="[Text]"/>
      <dgm:spPr/>
      <dgm:t>
        <a:bodyPr/>
        <a:lstStyle/>
        <a:p>
          <a:r>
            <a:rPr lang="ro-RO" noProof="0" dirty="0"/>
            <a:t>4</a:t>
          </a:r>
        </a:p>
      </dgm:t>
    </dgm:pt>
    <dgm:pt modelId="{61429E2E-7FFC-4AAA-8077-510A4BFF67AB}" type="parTrans" cxnId="{621527F7-DEF3-4BD4-91B1-89B5794A6520}">
      <dgm:prSet/>
      <dgm:spPr/>
      <dgm:t>
        <a:bodyPr/>
        <a:lstStyle/>
        <a:p>
          <a:endParaRPr lang="en-US"/>
        </a:p>
      </dgm:t>
    </dgm:pt>
    <dgm:pt modelId="{9188030E-105E-4DBB-847A-91DEE777803F}" type="sibTrans" cxnId="{621527F7-DEF3-4BD4-91B1-89B5794A6520}">
      <dgm:prSet/>
      <dgm:spPr/>
      <dgm:t>
        <a:bodyPr/>
        <a:lstStyle/>
        <a:p>
          <a:endParaRPr lang="en-US"/>
        </a:p>
      </dgm:t>
    </dgm:pt>
    <dgm:pt modelId="{82DD8EEB-2ABE-4162-9A81-4D285574B02C}">
      <dgm:prSet phldrT="[Text]"/>
      <dgm:spPr/>
      <dgm:t>
        <a:bodyPr/>
        <a:lstStyle/>
        <a:p>
          <a:r>
            <a:rPr lang="ro-RO" noProof="0" dirty="0"/>
            <a:t>Pregătire pentru STM32</a:t>
          </a:r>
        </a:p>
      </dgm:t>
    </dgm:pt>
    <dgm:pt modelId="{1AEFA872-FE06-4C05-BB25-761C54A7625C}" type="parTrans" cxnId="{DED3C558-4D04-4896-8FBB-2DA07A5A8D9E}">
      <dgm:prSet/>
      <dgm:spPr/>
      <dgm:t>
        <a:bodyPr/>
        <a:lstStyle/>
        <a:p>
          <a:endParaRPr lang="en-US"/>
        </a:p>
      </dgm:t>
    </dgm:pt>
    <dgm:pt modelId="{B0AE93DB-0ABC-4C31-B1C7-4C761EF41E34}" type="sibTrans" cxnId="{DED3C558-4D04-4896-8FBB-2DA07A5A8D9E}">
      <dgm:prSet/>
      <dgm:spPr/>
      <dgm:t>
        <a:bodyPr/>
        <a:lstStyle/>
        <a:p>
          <a:endParaRPr lang="en-US"/>
        </a:p>
      </dgm:t>
    </dgm:pt>
    <dgm:pt modelId="{9C4AA1B4-1870-4218-A4D9-CA70E02D6559}">
      <dgm:prSet phldrT="[Text]"/>
      <dgm:spPr/>
      <dgm:t>
        <a:bodyPr/>
        <a:lstStyle/>
        <a:p>
          <a:r>
            <a:rPr lang="ro-RO" noProof="0" dirty="0"/>
            <a:t>Scriptul </a:t>
          </a:r>
          <a:r>
            <a:rPr lang="ro-RO" noProof="0" dirty="0" err="1"/>
            <a:t>Python</a:t>
          </a:r>
          <a:r>
            <a:rPr lang="ro-RO" noProof="0" dirty="0"/>
            <a:t> </a:t>
          </a:r>
          <a:r>
            <a:rPr lang="ro-RO" noProof="0" dirty="0" err="1"/>
            <a:t>parsează</a:t>
          </a:r>
          <a:r>
            <a:rPr lang="ro-RO" noProof="0" dirty="0"/>
            <a:t> fișierul binar, exportă Excel și reconstruiește pachetele modificate.</a:t>
          </a:r>
        </a:p>
      </dgm:t>
    </dgm:pt>
    <dgm:pt modelId="{29EE834E-5ACA-452C-A9B8-083597696C73}" type="parTrans" cxnId="{D51C2B5D-7CD2-4AAA-A6C2-A14292EBA00D}">
      <dgm:prSet/>
      <dgm:spPr/>
      <dgm:t>
        <a:bodyPr/>
        <a:lstStyle/>
        <a:p>
          <a:endParaRPr lang="en-US"/>
        </a:p>
      </dgm:t>
    </dgm:pt>
    <dgm:pt modelId="{CCBD3066-C428-4815-8C0D-F82FB27ED234}" type="sibTrans" cxnId="{D51C2B5D-7CD2-4AAA-A6C2-A14292EBA00D}">
      <dgm:prSet/>
      <dgm:spPr/>
      <dgm:t>
        <a:bodyPr/>
        <a:lstStyle/>
        <a:p>
          <a:endParaRPr lang="en-US"/>
        </a:p>
      </dgm:t>
    </dgm:pt>
    <dgm:pt modelId="{88260C7D-C0E5-428A-B0C6-F0F9275E1D2E}" type="pres">
      <dgm:prSet presAssocID="{2FEADB60-7AC4-4694-9A10-6A295375947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EB8B9C38-5D13-4ECC-8945-00318306EFE4}" type="pres">
      <dgm:prSet presAssocID="{395A31C0-8036-420F-BEC5-2CF7C5815A15}" presName="composite" presStyleCnt="0"/>
      <dgm:spPr/>
    </dgm:pt>
    <dgm:pt modelId="{D6114757-4C04-495B-9684-10EF99E04EF6}" type="pres">
      <dgm:prSet presAssocID="{395A31C0-8036-420F-BEC5-2CF7C5815A15}" presName="First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7BF26391-E273-4AF0-B761-D56BC6482B20}" type="pres">
      <dgm:prSet presAssocID="{395A31C0-8036-420F-BEC5-2CF7C5815A15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28279D23-50D1-4247-B3C7-A12C39DC17B2}" type="pres">
      <dgm:prSet presAssocID="{395A31C0-8036-420F-BEC5-2CF7C5815A15}" presName="Accent" presStyleLbl="parChTrans1D1" presStyleIdx="0" presStyleCnt="4"/>
      <dgm:spPr/>
    </dgm:pt>
    <dgm:pt modelId="{355464F0-DB1E-4DDA-9249-304A8A81C16A}" type="pres">
      <dgm:prSet presAssocID="{395A31C0-8036-420F-BEC5-2CF7C5815A15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3908C6D0-F642-44C5-806D-DB844CF66CD3}" type="pres">
      <dgm:prSet presAssocID="{33552AF9-C357-4967-BF9F-87AD759B911F}" presName="sibTrans" presStyleCnt="0"/>
      <dgm:spPr/>
    </dgm:pt>
    <dgm:pt modelId="{77C9447E-6836-4003-85FB-6E8ED614B71C}" type="pres">
      <dgm:prSet presAssocID="{DBDA4F02-E9BC-4E95-8B35-7331F1938BF1}" presName="composite" presStyleCnt="0"/>
      <dgm:spPr/>
    </dgm:pt>
    <dgm:pt modelId="{E23D6D08-F9BC-4F7A-8495-83AAB3A136A5}" type="pres">
      <dgm:prSet presAssocID="{DBDA4F02-E9BC-4E95-8B35-7331F1938BF1}" presName="First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4CA9BDB5-CDEC-43A2-B327-14EBD6E2C383}" type="pres">
      <dgm:prSet presAssocID="{DBDA4F02-E9BC-4E95-8B35-7331F1938BF1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670FC5E7-1154-46EC-9A29-A7657C382262}" type="pres">
      <dgm:prSet presAssocID="{DBDA4F02-E9BC-4E95-8B35-7331F1938BF1}" presName="Accent" presStyleLbl="parChTrans1D1" presStyleIdx="1" presStyleCnt="4"/>
      <dgm:spPr/>
    </dgm:pt>
    <dgm:pt modelId="{D3D21A90-E479-4B3E-8D73-29DE7725D43B}" type="pres">
      <dgm:prSet presAssocID="{DBDA4F02-E9BC-4E95-8B35-7331F1938BF1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D95FD3DE-598E-4CA1-ADC0-6E2BF978E0EF}" type="pres">
      <dgm:prSet presAssocID="{6529373C-D111-4E8A-BB53-109032457050}" presName="sibTrans" presStyleCnt="0"/>
      <dgm:spPr/>
    </dgm:pt>
    <dgm:pt modelId="{4AF546FA-A8B5-46A9-BCE7-1E5B40DDA0BE}" type="pres">
      <dgm:prSet presAssocID="{B194FD22-7F8D-4EEF-B455-120B07121919}" presName="composite" presStyleCnt="0"/>
      <dgm:spPr/>
    </dgm:pt>
    <dgm:pt modelId="{7FAB1E49-EB09-41B5-88CD-0C2CE0A2589C}" type="pres">
      <dgm:prSet presAssocID="{B194FD22-7F8D-4EEF-B455-120B07121919}" presName="First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443A311D-5C42-4D93-9A59-EEE5064640AA}" type="pres">
      <dgm:prSet presAssocID="{B194FD22-7F8D-4EEF-B455-120B07121919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F7CA5ACE-CE8D-4A25-8EB9-88EC54266F65}" type="pres">
      <dgm:prSet presAssocID="{B194FD22-7F8D-4EEF-B455-120B07121919}" presName="Accent" presStyleLbl="parChTrans1D1" presStyleIdx="2" presStyleCnt="4"/>
      <dgm:spPr/>
    </dgm:pt>
    <dgm:pt modelId="{E67DD4C9-75E3-4197-8750-CBE82E9F1D6B}" type="pres">
      <dgm:prSet presAssocID="{B194FD22-7F8D-4EEF-B455-120B07121919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D1B9416A-3C7B-47C0-BE7E-1B7FFBA82113}" type="pres">
      <dgm:prSet presAssocID="{2A667C73-639B-4C84-898D-05858C261883}" presName="sibTrans" presStyleCnt="0"/>
      <dgm:spPr/>
    </dgm:pt>
    <dgm:pt modelId="{0566D417-B641-4BAC-93C7-3314B110D4F9}" type="pres">
      <dgm:prSet presAssocID="{CE5E7D94-9503-4FA1-8171-B30A04518128}" presName="composite" presStyleCnt="0"/>
      <dgm:spPr/>
    </dgm:pt>
    <dgm:pt modelId="{2C039802-F380-4FE0-B647-34B81C651BA1}" type="pres">
      <dgm:prSet presAssocID="{CE5E7D94-9503-4FA1-8171-B30A04518128}" presName="First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4E17EFA0-676E-4714-B125-C5C6EF13D4E4}" type="pres">
      <dgm:prSet presAssocID="{CE5E7D94-9503-4FA1-8171-B30A04518128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5C854EFA-6ECC-4D97-B6F0-32232E42F9A7}" type="pres">
      <dgm:prSet presAssocID="{CE5E7D94-9503-4FA1-8171-B30A04518128}" presName="Accent" presStyleLbl="parChTrans1D1" presStyleIdx="3" presStyleCnt="4"/>
      <dgm:spPr/>
    </dgm:pt>
    <dgm:pt modelId="{A1ED05D3-C3EF-4304-A9DF-9C716119F7FA}" type="pres">
      <dgm:prSet presAssocID="{CE5E7D94-9503-4FA1-8171-B30A04518128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81848B1A-8126-4B1A-8B2D-D036191963E7}" type="presOf" srcId="{1BD8B66A-D672-4CEB-A991-1A7AD0654F3D}" destId="{E67DD4C9-75E3-4197-8750-CBE82E9F1D6B}" srcOrd="0" destOrd="0" presId="urn:microsoft.com/office/officeart/2011/layout/TabList"/>
    <dgm:cxn modelId="{3960F328-AB00-4D37-9DC1-ECA838F72A91}" type="presOf" srcId="{7496ED7E-A84B-4988-93D0-832285508D5B}" destId="{D3D21A90-E479-4B3E-8D73-29DE7725D43B}" srcOrd="0" destOrd="0" presId="urn:microsoft.com/office/officeart/2011/layout/TabList"/>
    <dgm:cxn modelId="{B28D0C31-45C1-4154-AD42-39533F65BAF5}" srcId="{DBDA4F02-E9BC-4E95-8B35-7331F1938BF1}" destId="{7496ED7E-A84B-4988-93D0-832285508D5B}" srcOrd="1" destOrd="0" parTransId="{FD089C17-CE22-498E-A799-B82C2309A941}" sibTransId="{A4AC7440-BA9E-4AEC-BE6E-D968BB0782E9}"/>
    <dgm:cxn modelId="{030D7135-A568-46DE-A0E0-080F917C4A34}" type="presOf" srcId="{CE937FCA-70F8-4DB2-AB59-2116E5C7DFD1}" destId="{E23D6D08-F9BC-4F7A-8495-83AAB3A136A5}" srcOrd="0" destOrd="0" presId="urn:microsoft.com/office/officeart/2011/layout/TabList"/>
    <dgm:cxn modelId="{D199E435-15B7-4C2C-A0A8-463F42DA6416}" type="presOf" srcId="{2FEADB60-7AC4-4694-9A10-6A2953759471}" destId="{88260C7D-C0E5-428A-B0C6-F0F9275E1D2E}" srcOrd="0" destOrd="0" presId="urn:microsoft.com/office/officeart/2011/layout/TabList"/>
    <dgm:cxn modelId="{D1FA6A3B-1E11-4D3E-B01A-5EEC47B41656}" type="presOf" srcId="{CE5E7D94-9503-4FA1-8171-B30A04518128}" destId="{4E17EFA0-676E-4714-B125-C5C6EF13D4E4}" srcOrd="0" destOrd="0" presId="urn:microsoft.com/office/officeart/2011/layout/TabList"/>
    <dgm:cxn modelId="{E6C8FD40-1538-479B-B4C6-6F2A0D0C4C9C}" type="presOf" srcId="{DBDA4F02-E9BC-4E95-8B35-7331F1938BF1}" destId="{4CA9BDB5-CDEC-43A2-B327-14EBD6E2C383}" srcOrd="0" destOrd="0" presId="urn:microsoft.com/office/officeart/2011/layout/TabList"/>
    <dgm:cxn modelId="{D51C2B5D-7CD2-4AAA-A6C2-A14292EBA00D}" srcId="{CE5E7D94-9503-4FA1-8171-B30A04518128}" destId="{9C4AA1B4-1870-4218-A4D9-CA70E02D6559}" srcOrd="1" destOrd="0" parTransId="{29EE834E-5ACA-452C-A9B8-083597696C73}" sibTransId="{CCBD3066-C428-4815-8C0D-F82FB27ED234}"/>
    <dgm:cxn modelId="{9AC11E5E-EDA6-4AC9-A101-E4F2B807459E}" srcId="{2FEADB60-7AC4-4694-9A10-6A2953759471}" destId="{DBDA4F02-E9BC-4E95-8B35-7331F1938BF1}" srcOrd="1" destOrd="0" parTransId="{2B68995B-BDD9-4685-8B3B-C7884C6EF824}" sibTransId="{6529373C-D111-4E8A-BB53-109032457050}"/>
    <dgm:cxn modelId="{8ED11943-51AC-4AC2-961B-EC1D75572530}" type="presOf" srcId="{A1C8F68D-71EE-4A7B-9165-E6FF9FDE77DB}" destId="{D6114757-4C04-495B-9684-10EF99E04EF6}" srcOrd="0" destOrd="0" presId="urn:microsoft.com/office/officeart/2011/layout/TabList"/>
    <dgm:cxn modelId="{1E2E2543-F00C-4E9B-8787-C9CDDE02D0FD}" srcId="{2FEADB60-7AC4-4694-9A10-6A2953759471}" destId="{B194FD22-7F8D-4EEF-B455-120B07121919}" srcOrd="2" destOrd="0" parTransId="{B8EDA80B-7C7D-4BE0-8C50-DFD62746AACA}" sibTransId="{2A667C73-639B-4C84-898D-05858C261883}"/>
    <dgm:cxn modelId="{DF482B77-F0DE-4553-9265-FADDE808D995}" srcId="{395A31C0-8036-420F-BEC5-2CF7C5815A15}" destId="{A1C8F68D-71EE-4A7B-9165-E6FF9FDE77DB}" srcOrd="0" destOrd="0" parTransId="{7E8E36D9-FDCA-42E1-99CC-1196450F04FD}" sibTransId="{15F17117-6F9D-421B-912C-BC1D3F38ACF3}"/>
    <dgm:cxn modelId="{DED3C558-4D04-4896-8FBB-2DA07A5A8D9E}" srcId="{CE5E7D94-9503-4FA1-8171-B30A04518128}" destId="{82DD8EEB-2ABE-4162-9A81-4D285574B02C}" srcOrd="0" destOrd="0" parTransId="{1AEFA872-FE06-4C05-BB25-761C54A7625C}" sibTransId="{B0AE93DB-0ABC-4C31-B1C7-4C761EF41E34}"/>
    <dgm:cxn modelId="{2123C67A-5F3C-46B2-A587-AA8141C17CC5}" type="presOf" srcId="{9C4AA1B4-1870-4218-A4D9-CA70E02D6559}" destId="{A1ED05D3-C3EF-4304-A9DF-9C716119F7FA}" srcOrd="0" destOrd="0" presId="urn:microsoft.com/office/officeart/2011/layout/TabList"/>
    <dgm:cxn modelId="{406C638B-976F-408F-95C3-55F91BDDEC05}" srcId="{2FEADB60-7AC4-4694-9A10-6A2953759471}" destId="{395A31C0-8036-420F-BEC5-2CF7C5815A15}" srcOrd="0" destOrd="0" parTransId="{C2A8A522-8727-4BF3-AE3B-CAA212C31ADE}" sibTransId="{33552AF9-C357-4967-BF9F-87AD759B911F}"/>
    <dgm:cxn modelId="{6760F88F-A9FF-4F6E-952D-0E1D5EE8FA69}" type="presOf" srcId="{C2CD2EBA-A9D3-4E5C-882B-31B9EF8BE0BF}" destId="{7FAB1E49-EB09-41B5-88CD-0C2CE0A2589C}" srcOrd="0" destOrd="0" presId="urn:microsoft.com/office/officeart/2011/layout/TabList"/>
    <dgm:cxn modelId="{B4BAF998-B040-461D-972B-E12BFF4EB3DC}" srcId="{B194FD22-7F8D-4EEF-B455-120B07121919}" destId="{C2CD2EBA-A9D3-4E5C-882B-31B9EF8BE0BF}" srcOrd="0" destOrd="0" parTransId="{923A8142-F3FC-4487-9993-700818A66050}" sibTransId="{B831DCAD-C902-40E0-B4EA-7C30E3B65E02}"/>
    <dgm:cxn modelId="{08CC59A3-50EA-4BF2-924C-6FF97FD7240B}" srcId="{DBDA4F02-E9BC-4E95-8B35-7331F1938BF1}" destId="{CE937FCA-70F8-4DB2-AB59-2116E5C7DFD1}" srcOrd="0" destOrd="0" parTransId="{B684BECC-A47F-4EED-BB08-3FB818796AB6}" sibTransId="{7D7F6288-103F-40D0-B7AD-F5BC957B0ADC}"/>
    <dgm:cxn modelId="{0162F7AE-82EB-4450-AF24-D5EAA2A559DA}" type="presOf" srcId="{F8F89B58-318A-4322-942B-6E91C41C366F}" destId="{355464F0-DB1E-4DDA-9249-304A8A81C16A}" srcOrd="0" destOrd="0" presId="urn:microsoft.com/office/officeart/2011/layout/TabList"/>
    <dgm:cxn modelId="{46DA67B2-602F-4ACE-8CE6-A2589C537540}" type="presOf" srcId="{B194FD22-7F8D-4EEF-B455-120B07121919}" destId="{443A311D-5C42-4D93-9A59-EEE5064640AA}" srcOrd="0" destOrd="0" presId="urn:microsoft.com/office/officeart/2011/layout/TabList"/>
    <dgm:cxn modelId="{1E496DB4-51E4-4B7F-9443-6ECC2317DB53}" srcId="{395A31C0-8036-420F-BEC5-2CF7C5815A15}" destId="{F8F89B58-318A-4322-942B-6E91C41C366F}" srcOrd="1" destOrd="0" parTransId="{31CE6951-EBEF-4CE9-8791-EDA119A5A145}" sibTransId="{A530061B-8C60-4D00-9995-CD5C96E4E85C}"/>
    <dgm:cxn modelId="{399122D3-CA7F-4B3C-AF7C-0EA228CC3AA1}" type="presOf" srcId="{82DD8EEB-2ABE-4162-9A81-4D285574B02C}" destId="{2C039802-F380-4FE0-B647-34B81C651BA1}" srcOrd="0" destOrd="0" presId="urn:microsoft.com/office/officeart/2011/layout/TabList"/>
    <dgm:cxn modelId="{621527F7-DEF3-4BD4-91B1-89B5794A6520}" srcId="{2FEADB60-7AC4-4694-9A10-6A2953759471}" destId="{CE5E7D94-9503-4FA1-8171-B30A04518128}" srcOrd="3" destOrd="0" parTransId="{61429E2E-7FFC-4AAA-8077-510A4BFF67AB}" sibTransId="{9188030E-105E-4DBB-847A-91DEE777803F}"/>
    <dgm:cxn modelId="{DEBE88F7-089F-4A95-AFFA-792BD92FD61E}" type="presOf" srcId="{395A31C0-8036-420F-BEC5-2CF7C5815A15}" destId="{7BF26391-E273-4AF0-B761-D56BC6482B20}" srcOrd="0" destOrd="0" presId="urn:microsoft.com/office/officeart/2011/layout/TabList"/>
    <dgm:cxn modelId="{06E212F8-91C9-426C-B0FA-D3C271599F23}" srcId="{B194FD22-7F8D-4EEF-B455-120B07121919}" destId="{1BD8B66A-D672-4CEB-A991-1A7AD0654F3D}" srcOrd="1" destOrd="0" parTransId="{136FC165-41BF-484B-B1EE-1BEF5BB44FD8}" sibTransId="{DB9E12BB-87A3-4C2C-8E31-A57E955C5AA6}"/>
    <dgm:cxn modelId="{C463FE5E-F358-4D5B-9526-3B89D5526F61}" type="presParOf" srcId="{88260C7D-C0E5-428A-B0C6-F0F9275E1D2E}" destId="{EB8B9C38-5D13-4ECC-8945-00318306EFE4}" srcOrd="0" destOrd="0" presId="urn:microsoft.com/office/officeart/2011/layout/TabList"/>
    <dgm:cxn modelId="{E07F03A3-66C3-4F63-B9F4-77F9D54B4BCE}" type="presParOf" srcId="{EB8B9C38-5D13-4ECC-8945-00318306EFE4}" destId="{D6114757-4C04-495B-9684-10EF99E04EF6}" srcOrd="0" destOrd="0" presId="urn:microsoft.com/office/officeart/2011/layout/TabList"/>
    <dgm:cxn modelId="{F93F5082-F4E1-4BC6-AEB1-90BAB25A0240}" type="presParOf" srcId="{EB8B9C38-5D13-4ECC-8945-00318306EFE4}" destId="{7BF26391-E273-4AF0-B761-D56BC6482B20}" srcOrd="1" destOrd="0" presId="urn:microsoft.com/office/officeart/2011/layout/TabList"/>
    <dgm:cxn modelId="{AC188D42-A976-491C-A7DC-9D837307FE75}" type="presParOf" srcId="{EB8B9C38-5D13-4ECC-8945-00318306EFE4}" destId="{28279D23-50D1-4247-B3C7-A12C39DC17B2}" srcOrd="2" destOrd="0" presId="urn:microsoft.com/office/officeart/2011/layout/TabList"/>
    <dgm:cxn modelId="{C8955C71-3430-4D19-93EE-92041AE14110}" type="presParOf" srcId="{88260C7D-C0E5-428A-B0C6-F0F9275E1D2E}" destId="{355464F0-DB1E-4DDA-9249-304A8A81C16A}" srcOrd="1" destOrd="0" presId="urn:microsoft.com/office/officeart/2011/layout/TabList"/>
    <dgm:cxn modelId="{4FBD3DA9-B01E-4CED-B050-E92F4D481ACD}" type="presParOf" srcId="{88260C7D-C0E5-428A-B0C6-F0F9275E1D2E}" destId="{3908C6D0-F642-44C5-806D-DB844CF66CD3}" srcOrd="2" destOrd="0" presId="urn:microsoft.com/office/officeart/2011/layout/TabList"/>
    <dgm:cxn modelId="{5E7B96AC-31DB-4AA4-BE78-9ADE8555590E}" type="presParOf" srcId="{88260C7D-C0E5-428A-B0C6-F0F9275E1D2E}" destId="{77C9447E-6836-4003-85FB-6E8ED614B71C}" srcOrd="3" destOrd="0" presId="urn:microsoft.com/office/officeart/2011/layout/TabList"/>
    <dgm:cxn modelId="{E683D284-C013-44CA-92A1-FB6A282D5CBF}" type="presParOf" srcId="{77C9447E-6836-4003-85FB-6E8ED614B71C}" destId="{E23D6D08-F9BC-4F7A-8495-83AAB3A136A5}" srcOrd="0" destOrd="0" presId="urn:microsoft.com/office/officeart/2011/layout/TabList"/>
    <dgm:cxn modelId="{62CD432A-9472-4618-80F3-2ED3CA4327DD}" type="presParOf" srcId="{77C9447E-6836-4003-85FB-6E8ED614B71C}" destId="{4CA9BDB5-CDEC-43A2-B327-14EBD6E2C383}" srcOrd="1" destOrd="0" presId="urn:microsoft.com/office/officeart/2011/layout/TabList"/>
    <dgm:cxn modelId="{944D1EB5-3455-4AEB-80A3-CAE2E99FD978}" type="presParOf" srcId="{77C9447E-6836-4003-85FB-6E8ED614B71C}" destId="{670FC5E7-1154-46EC-9A29-A7657C382262}" srcOrd="2" destOrd="0" presId="urn:microsoft.com/office/officeart/2011/layout/TabList"/>
    <dgm:cxn modelId="{C6D9636C-BC0D-41AE-A75D-04D4AFC94523}" type="presParOf" srcId="{88260C7D-C0E5-428A-B0C6-F0F9275E1D2E}" destId="{D3D21A90-E479-4B3E-8D73-29DE7725D43B}" srcOrd="4" destOrd="0" presId="urn:microsoft.com/office/officeart/2011/layout/TabList"/>
    <dgm:cxn modelId="{B317852F-4BF9-4FCC-BCF4-1926484BDB77}" type="presParOf" srcId="{88260C7D-C0E5-428A-B0C6-F0F9275E1D2E}" destId="{D95FD3DE-598E-4CA1-ADC0-6E2BF978E0EF}" srcOrd="5" destOrd="0" presId="urn:microsoft.com/office/officeart/2011/layout/TabList"/>
    <dgm:cxn modelId="{5515D408-C235-40DB-8901-ED8990BFB056}" type="presParOf" srcId="{88260C7D-C0E5-428A-B0C6-F0F9275E1D2E}" destId="{4AF546FA-A8B5-46A9-BCE7-1E5B40DDA0BE}" srcOrd="6" destOrd="0" presId="urn:microsoft.com/office/officeart/2011/layout/TabList"/>
    <dgm:cxn modelId="{70D94407-78C6-4ABE-8E46-ACF6400AFB8D}" type="presParOf" srcId="{4AF546FA-A8B5-46A9-BCE7-1E5B40DDA0BE}" destId="{7FAB1E49-EB09-41B5-88CD-0C2CE0A2589C}" srcOrd="0" destOrd="0" presId="urn:microsoft.com/office/officeart/2011/layout/TabList"/>
    <dgm:cxn modelId="{8B8710DA-94FE-46F3-8B9E-49B581D986CF}" type="presParOf" srcId="{4AF546FA-A8B5-46A9-BCE7-1E5B40DDA0BE}" destId="{443A311D-5C42-4D93-9A59-EEE5064640AA}" srcOrd="1" destOrd="0" presId="urn:microsoft.com/office/officeart/2011/layout/TabList"/>
    <dgm:cxn modelId="{3F21E4DC-E671-46FC-9368-A701A1025AE9}" type="presParOf" srcId="{4AF546FA-A8B5-46A9-BCE7-1E5B40DDA0BE}" destId="{F7CA5ACE-CE8D-4A25-8EB9-88EC54266F65}" srcOrd="2" destOrd="0" presId="urn:microsoft.com/office/officeart/2011/layout/TabList"/>
    <dgm:cxn modelId="{A956C540-5A1D-4E63-9293-74D9D8CC9B42}" type="presParOf" srcId="{88260C7D-C0E5-428A-B0C6-F0F9275E1D2E}" destId="{E67DD4C9-75E3-4197-8750-CBE82E9F1D6B}" srcOrd="7" destOrd="0" presId="urn:microsoft.com/office/officeart/2011/layout/TabList"/>
    <dgm:cxn modelId="{FB6344EE-35D0-4284-9230-66D840C4BF0A}" type="presParOf" srcId="{88260C7D-C0E5-428A-B0C6-F0F9275E1D2E}" destId="{D1B9416A-3C7B-47C0-BE7E-1B7FFBA82113}" srcOrd="8" destOrd="0" presId="urn:microsoft.com/office/officeart/2011/layout/TabList"/>
    <dgm:cxn modelId="{743A3D93-4BA1-4B01-95D5-9EA48E13381D}" type="presParOf" srcId="{88260C7D-C0E5-428A-B0C6-F0F9275E1D2E}" destId="{0566D417-B641-4BAC-93C7-3314B110D4F9}" srcOrd="9" destOrd="0" presId="urn:microsoft.com/office/officeart/2011/layout/TabList"/>
    <dgm:cxn modelId="{229B91E5-CFCC-48B7-86F3-55EFCEDEC0D5}" type="presParOf" srcId="{0566D417-B641-4BAC-93C7-3314B110D4F9}" destId="{2C039802-F380-4FE0-B647-34B81C651BA1}" srcOrd="0" destOrd="0" presId="urn:microsoft.com/office/officeart/2011/layout/TabList"/>
    <dgm:cxn modelId="{DC95491F-4F1A-4DC7-AFF9-657C1FAE7619}" type="presParOf" srcId="{0566D417-B641-4BAC-93C7-3314B110D4F9}" destId="{4E17EFA0-676E-4714-B125-C5C6EF13D4E4}" srcOrd="1" destOrd="0" presId="urn:microsoft.com/office/officeart/2011/layout/TabList"/>
    <dgm:cxn modelId="{17B3CEA5-E080-4F33-B33B-3F92E62DC9F3}" type="presParOf" srcId="{0566D417-B641-4BAC-93C7-3314B110D4F9}" destId="{5C854EFA-6ECC-4D97-B6F0-32232E42F9A7}" srcOrd="2" destOrd="0" presId="urn:microsoft.com/office/officeart/2011/layout/TabList"/>
    <dgm:cxn modelId="{8DBE10A1-AE16-41EB-A7EB-C8F05A0B28F7}" type="presParOf" srcId="{88260C7D-C0E5-428A-B0C6-F0F9275E1D2E}" destId="{A1ED05D3-C3EF-4304-A9DF-9C716119F7FA}" srcOrd="10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60114-0722-47B5-8464-B76C5DCA437D}">
      <dsp:nvSpPr>
        <dsp:cNvPr id="0" name=""/>
        <dsp:cNvSpPr/>
      </dsp:nvSpPr>
      <dsp:spPr>
        <a:xfrm rot="5400000">
          <a:off x="4545350" y="-1757916"/>
          <a:ext cx="973116" cy="473591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o-RO" sz="1800" kern="1200" noProof="0" dirty="0"/>
            <a:t>Un pachet GNSS poate avea structură corectă, dar valori fizic incoerente.</a:t>
          </a:r>
        </a:p>
      </dsp:txBody>
      <dsp:txXfrm rot="-5400000">
        <a:off x="2663951" y="170987"/>
        <a:ext cx="4688410" cy="878108"/>
      </dsp:txXfrm>
    </dsp:sp>
    <dsp:sp modelId="{E6667945-D2ED-4869-9546-CE15CFB537F4}">
      <dsp:nvSpPr>
        <dsp:cNvPr id="0" name=""/>
        <dsp:cNvSpPr/>
      </dsp:nvSpPr>
      <dsp:spPr>
        <a:xfrm>
          <a:off x="0" y="1843"/>
          <a:ext cx="2663951" cy="1216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1" kern="1200" noProof="0" dirty="0"/>
            <a:t>Date aparent valide</a:t>
          </a:r>
        </a:p>
      </dsp:txBody>
      <dsp:txXfrm>
        <a:off x="59380" y="61223"/>
        <a:ext cx="2545191" cy="1097635"/>
      </dsp:txXfrm>
    </dsp:sp>
    <dsp:sp modelId="{3D03E785-FE2B-4E05-B5A7-5DC7AD35BA52}">
      <dsp:nvSpPr>
        <dsp:cNvPr id="0" name=""/>
        <dsp:cNvSpPr/>
      </dsp:nvSpPr>
      <dsp:spPr>
        <a:xfrm rot="5400000">
          <a:off x="4545350" y="-480700"/>
          <a:ext cx="973116" cy="473591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o-RO" sz="1800" kern="1200" noProof="0" dirty="0"/>
            <a:t>IMU-</a:t>
          </a:r>
          <a:r>
            <a:rPr lang="ro-RO" sz="1800" kern="1200" noProof="0" dirty="0" err="1"/>
            <a:t>ul</a:t>
          </a:r>
          <a:r>
            <a:rPr lang="ro-RO" sz="1800" kern="1200" noProof="0" dirty="0"/>
            <a:t> oferă o referință independentă pentru dinamica sistemului.</a:t>
          </a:r>
        </a:p>
      </dsp:txBody>
      <dsp:txXfrm rot="-5400000">
        <a:off x="2663951" y="1448203"/>
        <a:ext cx="4688410" cy="878108"/>
      </dsp:txXfrm>
    </dsp:sp>
    <dsp:sp modelId="{ED0FD421-9DBE-46F6-B9FB-239523C88D94}">
      <dsp:nvSpPr>
        <dsp:cNvPr id="0" name=""/>
        <dsp:cNvSpPr/>
      </dsp:nvSpPr>
      <dsp:spPr>
        <a:xfrm>
          <a:off x="0" y="1279058"/>
          <a:ext cx="2663951" cy="1216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1" kern="1200" noProof="0" dirty="0"/>
            <a:t>Verificare cu IMU</a:t>
          </a:r>
          <a:endParaRPr lang="ro-RO" sz="2000" kern="1200" noProof="0" dirty="0"/>
        </a:p>
      </dsp:txBody>
      <dsp:txXfrm>
        <a:off x="59380" y="1338438"/>
        <a:ext cx="2545191" cy="1097635"/>
      </dsp:txXfrm>
    </dsp:sp>
    <dsp:sp modelId="{0FB2B56E-5CAE-4B9D-AB76-D0B401356A37}">
      <dsp:nvSpPr>
        <dsp:cNvPr id="0" name=""/>
        <dsp:cNvSpPr/>
      </dsp:nvSpPr>
      <dsp:spPr>
        <a:xfrm rot="5400000">
          <a:off x="4545350" y="796514"/>
          <a:ext cx="973116" cy="473591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o-RO" sz="1800" kern="1200" noProof="0" dirty="0"/>
            <a:t>Fiecare anomalie este semnalată separat: timp, poziție, viteză, IMU, </a:t>
          </a:r>
          <a:r>
            <a:rPr lang="ro-RO" sz="1800" kern="1200" noProof="0" dirty="0" err="1"/>
            <a:t>heading</a:t>
          </a:r>
          <a:r>
            <a:rPr lang="ro-RO" sz="1800" kern="1200" noProof="0" dirty="0"/>
            <a:t>, </a:t>
          </a:r>
          <a:r>
            <a:rPr lang="ro-RO" sz="1800" kern="1200" noProof="0" dirty="0" err="1"/>
            <a:t>stale</a:t>
          </a:r>
          <a:r>
            <a:rPr lang="ro-RO" sz="1800" kern="1200" noProof="0" dirty="0"/>
            <a:t> sau </a:t>
          </a:r>
          <a:r>
            <a:rPr lang="ro-RO" sz="1800" kern="1200" noProof="0" dirty="0" err="1"/>
            <a:t>frozen</a:t>
          </a:r>
          <a:r>
            <a:rPr lang="ro-RO" sz="1800" kern="1200" noProof="0" dirty="0"/>
            <a:t>.</a:t>
          </a:r>
        </a:p>
      </dsp:txBody>
      <dsp:txXfrm rot="-5400000">
        <a:off x="2663951" y="2725417"/>
        <a:ext cx="4688410" cy="878108"/>
      </dsp:txXfrm>
    </dsp:sp>
    <dsp:sp modelId="{B6EC7C15-0901-4810-8B5A-040CB6D48A64}">
      <dsp:nvSpPr>
        <dsp:cNvPr id="0" name=""/>
        <dsp:cNvSpPr/>
      </dsp:nvSpPr>
      <dsp:spPr>
        <a:xfrm>
          <a:off x="0" y="2556274"/>
          <a:ext cx="2663951" cy="1216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1" kern="1200" noProof="0" dirty="0"/>
            <a:t>Diagnostic pe </a:t>
          </a:r>
          <a:r>
            <a:rPr lang="ro-RO" sz="2000" b="1" kern="1200" noProof="0" dirty="0" err="1"/>
            <a:t>flag</a:t>
          </a:r>
          <a:r>
            <a:rPr lang="ro-RO" sz="2000" b="1" kern="1200" noProof="0" dirty="0"/>
            <a:t>-uri</a:t>
          </a:r>
          <a:endParaRPr lang="ro-RO" sz="2000" kern="1200" noProof="0" dirty="0"/>
        </a:p>
      </dsp:txBody>
      <dsp:txXfrm>
        <a:off x="59380" y="2615654"/>
        <a:ext cx="2545191" cy="1097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54EFA-6ECC-4D97-B6F0-32232E42F9A7}">
      <dsp:nvSpPr>
        <dsp:cNvPr id="0" name=""/>
        <dsp:cNvSpPr/>
      </dsp:nvSpPr>
      <dsp:spPr>
        <a:xfrm>
          <a:off x="0" y="3579174"/>
          <a:ext cx="4157133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CA5ACE-CE8D-4A25-8EB9-88EC54266F65}">
      <dsp:nvSpPr>
        <dsp:cNvPr id="0" name=""/>
        <dsp:cNvSpPr/>
      </dsp:nvSpPr>
      <dsp:spPr>
        <a:xfrm>
          <a:off x="0" y="2503877"/>
          <a:ext cx="4157133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0FC5E7-1154-46EC-9A29-A7657C382262}">
      <dsp:nvSpPr>
        <dsp:cNvPr id="0" name=""/>
        <dsp:cNvSpPr/>
      </dsp:nvSpPr>
      <dsp:spPr>
        <a:xfrm>
          <a:off x="0" y="1428580"/>
          <a:ext cx="4157133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279D23-50D1-4247-B3C7-A12C39DC17B2}">
      <dsp:nvSpPr>
        <dsp:cNvPr id="0" name=""/>
        <dsp:cNvSpPr/>
      </dsp:nvSpPr>
      <dsp:spPr>
        <a:xfrm>
          <a:off x="0" y="353282"/>
          <a:ext cx="4157133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14757-4C04-495B-9684-10EF99E04EF6}">
      <dsp:nvSpPr>
        <dsp:cNvPr id="0" name=""/>
        <dsp:cNvSpPr/>
      </dsp:nvSpPr>
      <dsp:spPr>
        <a:xfrm>
          <a:off x="1080854" y="761"/>
          <a:ext cx="3076278" cy="352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kern="1200" noProof="0" dirty="0"/>
            <a:t>Vizualizare simulare</a:t>
          </a:r>
        </a:p>
      </dsp:txBody>
      <dsp:txXfrm>
        <a:off x="1080854" y="761"/>
        <a:ext cx="3076278" cy="352521"/>
      </dsp:txXfrm>
    </dsp:sp>
    <dsp:sp modelId="{7BF26391-E273-4AF0-B761-D56BC6482B20}">
      <dsp:nvSpPr>
        <dsp:cNvPr id="0" name=""/>
        <dsp:cNvSpPr/>
      </dsp:nvSpPr>
      <dsp:spPr>
        <a:xfrm>
          <a:off x="0" y="761"/>
          <a:ext cx="1080854" cy="35252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noProof="0" dirty="0"/>
            <a:t>1</a:t>
          </a:r>
        </a:p>
      </dsp:txBody>
      <dsp:txXfrm>
        <a:off x="17212" y="17973"/>
        <a:ext cx="1046430" cy="335309"/>
      </dsp:txXfrm>
    </dsp:sp>
    <dsp:sp modelId="{355464F0-DB1E-4DDA-9249-304A8A81C16A}">
      <dsp:nvSpPr>
        <dsp:cNvPr id="0" name=""/>
        <dsp:cNvSpPr/>
      </dsp:nvSpPr>
      <dsp:spPr>
        <a:xfrm>
          <a:off x="0" y="353282"/>
          <a:ext cx="4157133" cy="7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300" kern="1200" noProof="0" dirty="0"/>
            <a:t>  42 Cam, 42 </a:t>
          </a:r>
          <a:r>
            <a:rPr lang="ro-RO" sz="1300" kern="1200" noProof="0" dirty="0" err="1"/>
            <a:t>Map</a:t>
          </a:r>
          <a:r>
            <a:rPr lang="ro-RO" sz="1300" kern="1200" noProof="0" dirty="0"/>
            <a:t> și Unit </a:t>
          </a:r>
          <a:r>
            <a:rPr lang="ro-RO" sz="1300" kern="1200" noProof="0" dirty="0" err="1"/>
            <a:t>Sphere</a:t>
          </a:r>
          <a:r>
            <a:rPr lang="ro-RO" sz="1300" kern="1200" noProof="0" dirty="0"/>
            <a:t> </a:t>
          </a:r>
          <a:r>
            <a:rPr lang="ro-RO" sz="1300" kern="1200" noProof="0" dirty="0" err="1"/>
            <a:t>Viewer</a:t>
          </a:r>
          <a:r>
            <a:rPr lang="ro-RO" sz="1300" kern="1200" noProof="0" dirty="0"/>
            <a:t> permit verificarea contextului simulat.</a:t>
          </a:r>
        </a:p>
      </dsp:txBody>
      <dsp:txXfrm>
        <a:off x="0" y="353282"/>
        <a:ext cx="4157133" cy="705149"/>
      </dsp:txXfrm>
    </dsp:sp>
    <dsp:sp modelId="{E23D6D08-F9BC-4F7A-8495-83AAB3A136A5}">
      <dsp:nvSpPr>
        <dsp:cNvPr id="0" name=""/>
        <dsp:cNvSpPr/>
      </dsp:nvSpPr>
      <dsp:spPr>
        <a:xfrm>
          <a:off x="1080854" y="1076058"/>
          <a:ext cx="3076278" cy="352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kern="1200" noProof="0" dirty="0"/>
            <a:t>Telemetrie în </a:t>
          </a:r>
          <a:r>
            <a:rPr lang="ro-RO" sz="1700" kern="1200" noProof="0" dirty="0" err="1"/>
            <a:t>Packet</a:t>
          </a:r>
          <a:r>
            <a:rPr lang="ro-RO" sz="1700" kern="1200" noProof="0" dirty="0"/>
            <a:t> </a:t>
          </a:r>
          <a:r>
            <a:rPr lang="ro-RO" sz="1700" kern="1200" noProof="0" dirty="0" err="1"/>
            <a:t>Viewer</a:t>
          </a:r>
          <a:endParaRPr lang="ro-RO" sz="1700" kern="1200" noProof="0" dirty="0"/>
        </a:p>
      </dsp:txBody>
      <dsp:txXfrm>
        <a:off x="1080854" y="1076058"/>
        <a:ext cx="3076278" cy="352521"/>
      </dsp:txXfrm>
    </dsp:sp>
    <dsp:sp modelId="{4CA9BDB5-CDEC-43A2-B327-14EBD6E2C383}">
      <dsp:nvSpPr>
        <dsp:cNvPr id="0" name=""/>
        <dsp:cNvSpPr/>
      </dsp:nvSpPr>
      <dsp:spPr>
        <a:xfrm>
          <a:off x="0" y="1076058"/>
          <a:ext cx="1080854" cy="35252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noProof="0" dirty="0"/>
            <a:t>2</a:t>
          </a:r>
        </a:p>
      </dsp:txBody>
      <dsp:txXfrm>
        <a:off x="17212" y="1093270"/>
        <a:ext cx="1046430" cy="335309"/>
      </dsp:txXfrm>
    </dsp:sp>
    <dsp:sp modelId="{D3D21A90-E479-4B3E-8D73-29DE7725D43B}">
      <dsp:nvSpPr>
        <dsp:cNvPr id="0" name=""/>
        <dsp:cNvSpPr/>
      </dsp:nvSpPr>
      <dsp:spPr>
        <a:xfrm>
          <a:off x="0" y="1428580"/>
          <a:ext cx="4157133" cy="7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300" kern="1200" noProof="0" dirty="0"/>
            <a:t>   Pachetele NOVATEL_OEM615_DATA_TLM și GENERIC_IMU_DATA_TLM sunt inspectate câmp cu câmp.</a:t>
          </a:r>
        </a:p>
      </dsp:txBody>
      <dsp:txXfrm>
        <a:off x="0" y="1428580"/>
        <a:ext cx="4157133" cy="705149"/>
      </dsp:txXfrm>
    </dsp:sp>
    <dsp:sp modelId="{7FAB1E49-EB09-41B5-88CD-0C2CE0A2589C}">
      <dsp:nvSpPr>
        <dsp:cNvPr id="0" name=""/>
        <dsp:cNvSpPr/>
      </dsp:nvSpPr>
      <dsp:spPr>
        <a:xfrm>
          <a:off x="1080854" y="2151355"/>
          <a:ext cx="3076278" cy="352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kern="1200" noProof="0" dirty="0" err="1"/>
            <a:t>Logare</a:t>
          </a:r>
          <a:r>
            <a:rPr lang="ro-RO" sz="1700" kern="1200" noProof="0" dirty="0"/>
            <a:t> în fișier binar</a:t>
          </a:r>
        </a:p>
      </dsp:txBody>
      <dsp:txXfrm>
        <a:off x="1080854" y="2151355"/>
        <a:ext cx="3076278" cy="352521"/>
      </dsp:txXfrm>
    </dsp:sp>
    <dsp:sp modelId="{443A311D-5C42-4D93-9A59-EEE5064640AA}">
      <dsp:nvSpPr>
        <dsp:cNvPr id="0" name=""/>
        <dsp:cNvSpPr/>
      </dsp:nvSpPr>
      <dsp:spPr>
        <a:xfrm>
          <a:off x="0" y="2151355"/>
          <a:ext cx="1080854" cy="35252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noProof="0" dirty="0"/>
            <a:t>3</a:t>
          </a:r>
        </a:p>
      </dsp:txBody>
      <dsp:txXfrm>
        <a:off x="17212" y="2168567"/>
        <a:ext cx="1046430" cy="335309"/>
      </dsp:txXfrm>
    </dsp:sp>
    <dsp:sp modelId="{E67DD4C9-75E3-4197-8750-CBE82E9F1D6B}">
      <dsp:nvSpPr>
        <dsp:cNvPr id="0" name=""/>
        <dsp:cNvSpPr/>
      </dsp:nvSpPr>
      <dsp:spPr>
        <a:xfrm>
          <a:off x="0" y="2503877"/>
          <a:ext cx="4157133" cy="7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300" kern="1200" noProof="0" dirty="0"/>
            <a:t>COSMOS salvează pachetele pentru </a:t>
          </a:r>
          <a:r>
            <a:rPr lang="ro-RO" sz="1300" kern="1200" noProof="0" dirty="0" err="1"/>
            <a:t>parsare</a:t>
          </a:r>
          <a:r>
            <a:rPr lang="ro-RO" sz="1300" kern="1200" noProof="0" dirty="0"/>
            <a:t> ulterioară și generare de scenarii.</a:t>
          </a:r>
        </a:p>
      </dsp:txBody>
      <dsp:txXfrm>
        <a:off x="0" y="2503877"/>
        <a:ext cx="4157133" cy="705149"/>
      </dsp:txXfrm>
    </dsp:sp>
    <dsp:sp modelId="{2C039802-F380-4FE0-B647-34B81C651BA1}">
      <dsp:nvSpPr>
        <dsp:cNvPr id="0" name=""/>
        <dsp:cNvSpPr/>
      </dsp:nvSpPr>
      <dsp:spPr>
        <a:xfrm>
          <a:off x="1080854" y="3226652"/>
          <a:ext cx="3076278" cy="352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700" kern="1200" noProof="0" dirty="0"/>
            <a:t>Pregătire pentru STM32</a:t>
          </a:r>
        </a:p>
      </dsp:txBody>
      <dsp:txXfrm>
        <a:off x="1080854" y="3226652"/>
        <a:ext cx="3076278" cy="352521"/>
      </dsp:txXfrm>
    </dsp:sp>
    <dsp:sp modelId="{4E17EFA0-676E-4714-B125-C5C6EF13D4E4}">
      <dsp:nvSpPr>
        <dsp:cNvPr id="0" name=""/>
        <dsp:cNvSpPr/>
      </dsp:nvSpPr>
      <dsp:spPr>
        <a:xfrm>
          <a:off x="0" y="3226652"/>
          <a:ext cx="1080854" cy="35252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noProof="0" dirty="0"/>
            <a:t>4</a:t>
          </a:r>
        </a:p>
      </dsp:txBody>
      <dsp:txXfrm>
        <a:off x="17212" y="3243864"/>
        <a:ext cx="1046430" cy="335309"/>
      </dsp:txXfrm>
    </dsp:sp>
    <dsp:sp modelId="{A1ED05D3-C3EF-4304-A9DF-9C716119F7FA}">
      <dsp:nvSpPr>
        <dsp:cNvPr id="0" name=""/>
        <dsp:cNvSpPr/>
      </dsp:nvSpPr>
      <dsp:spPr>
        <a:xfrm>
          <a:off x="0" y="3579174"/>
          <a:ext cx="4157133" cy="7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300" kern="1200" noProof="0" dirty="0"/>
            <a:t>Scriptul </a:t>
          </a:r>
          <a:r>
            <a:rPr lang="ro-RO" sz="1300" kern="1200" noProof="0" dirty="0" err="1"/>
            <a:t>Python</a:t>
          </a:r>
          <a:r>
            <a:rPr lang="ro-RO" sz="1300" kern="1200" noProof="0" dirty="0"/>
            <a:t> </a:t>
          </a:r>
          <a:r>
            <a:rPr lang="ro-RO" sz="1300" kern="1200" noProof="0" dirty="0" err="1"/>
            <a:t>parsează</a:t>
          </a:r>
          <a:r>
            <a:rPr lang="ro-RO" sz="1300" kern="1200" noProof="0" dirty="0"/>
            <a:t> fișierul binar, exportă Excel și reconstruiește pachetele modificate.</a:t>
          </a:r>
        </a:p>
      </dsp:txBody>
      <dsp:txXfrm>
        <a:off x="0" y="3579174"/>
        <a:ext cx="4157133" cy="705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922B6-4572-48CE-A582-E8FB6FAC3E2D}" type="datetimeFigureOut">
              <a:rPr lang="ro-RO" smtClean="0"/>
              <a:t>31.05.2026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FFAEE-FBCB-4DCB-B527-9C71BA0189CB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882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FFAEE-FBCB-4DCB-B527-9C71BA0189CB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279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9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0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3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9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3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4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5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66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4533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21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47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30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4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4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BC3310E-BA6E-4BF1-A00B-E401D3227DC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77299-0A0A-49FB-A37C-F8EC362E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964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F767-369E-462B-AE29-33B1709D9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4800" noProof="0" dirty="0"/>
              <a:t>Sistem </a:t>
            </a:r>
            <a:r>
              <a:rPr lang="ro-RO" sz="4800" noProof="0" dirty="0" err="1"/>
              <a:t>embedded</a:t>
            </a:r>
            <a:r>
              <a:rPr lang="ro-RO" sz="4800" noProof="0" dirty="0"/>
              <a:t> pentru detecția anomaliilor GNSS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CA893-37B7-4C50-6908-80E0E7124F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pPr algn="l"/>
            <a:r>
              <a:rPr lang="ro-RO" noProof="0" dirty="0"/>
              <a:t>Autor: Iustinian-Bogdan ȘERBAN</a:t>
            </a:r>
          </a:p>
          <a:p>
            <a:pPr algn="l"/>
            <a:r>
              <a:rPr lang="ro-RO" noProof="0" dirty="0"/>
              <a:t>Coordonator: Alexandra Elena DOBRE</a:t>
            </a:r>
            <a:endParaRPr lang="ro-RO" b="0" noProof="0" dirty="0">
              <a:effectLst/>
            </a:endParaRPr>
          </a:p>
          <a:p>
            <a:br>
              <a:rPr lang="ro-RO" noProof="0" dirty="0"/>
            </a:b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33406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429F-9022-B7F6-F670-4249E3D8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Context și problemă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2036E-565F-CE67-F48F-1D1BBDC43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667" y="1417918"/>
            <a:ext cx="8946541" cy="4195481"/>
          </a:xfrm>
        </p:spPr>
        <p:txBody>
          <a:bodyPr/>
          <a:lstStyle/>
          <a:p>
            <a:r>
              <a:rPr lang="ro-RO" noProof="0" dirty="0"/>
              <a:t>GNSS oferă poziție, viteză și timp, dar datele pot deveni inconsistente sau manipulate.</a:t>
            </a:r>
          </a:p>
          <a:p>
            <a:endParaRPr lang="ro-RO" noProof="0" dirty="0"/>
          </a:p>
          <a:p>
            <a:endParaRPr lang="ro-RO" noProof="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99796AE-EC94-321F-E9F3-C996AA939D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4130162"/>
              </p:ext>
            </p:extLst>
          </p:nvPr>
        </p:nvGraphicFramePr>
        <p:xfrm>
          <a:off x="973667" y="2387599"/>
          <a:ext cx="7399866" cy="3774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9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EBDD5-E159-381D-3457-38F7CCC2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FCD1-EDD1-B352-7B48-9519605E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Obiective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E22FA-F694-1FC4-D235-957938332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667" y="1417918"/>
            <a:ext cx="8946541" cy="4195481"/>
          </a:xfrm>
        </p:spPr>
        <p:txBody>
          <a:bodyPr/>
          <a:lstStyle/>
          <a:p>
            <a:r>
              <a:rPr lang="ro-RO" noProof="0" dirty="0"/>
              <a:t>Dezvoltarea unei aplicații </a:t>
            </a:r>
            <a:r>
              <a:rPr lang="ro-RO" noProof="0" dirty="0" err="1"/>
              <a:t>embedded</a:t>
            </a:r>
            <a:r>
              <a:rPr lang="ro-RO" noProof="0" dirty="0"/>
              <a:t> STM32 capabile să analizeze consistența datelor GNSS și IMU pentru detectarea </a:t>
            </a:r>
            <a:r>
              <a:rPr lang="ro-RO" noProof="0" dirty="0" err="1"/>
              <a:t>spoofing</a:t>
            </a:r>
            <a:r>
              <a:rPr lang="ro-RO" noProof="0" dirty="0"/>
              <a:t>-ului.</a:t>
            </a:r>
          </a:p>
          <a:p>
            <a:endParaRPr lang="ro-RO" noProof="0" dirty="0"/>
          </a:p>
          <a:p>
            <a:r>
              <a:rPr lang="ro-RO" b="1" noProof="0" dirty="0">
                <a:solidFill>
                  <a:srgbClr val="F5FBFF"/>
                </a:solidFill>
              </a:rPr>
              <a:t>Preluarea datelor din NOS3</a:t>
            </a:r>
            <a:endParaRPr lang="ro-RO" noProof="0" dirty="0"/>
          </a:p>
          <a:p>
            <a:r>
              <a:rPr lang="ro-RO" b="1" noProof="0" dirty="0" err="1">
                <a:solidFill>
                  <a:srgbClr val="F5FBFF"/>
                </a:solidFill>
              </a:rPr>
              <a:t>Parsare</a:t>
            </a:r>
            <a:r>
              <a:rPr lang="ro-RO" b="1" noProof="0" dirty="0">
                <a:solidFill>
                  <a:srgbClr val="F5FBFF"/>
                </a:solidFill>
              </a:rPr>
              <a:t> pachete CCSDS</a:t>
            </a:r>
          </a:p>
          <a:p>
            <a:r>
              <a:rPr lang="ro-RO" b="1" noProof="0" dirty="0">
                <a:solidFill>
                  <a:srgbClr val="F5FBFF"/>
                </a:solidFill>
              </a:rPr>
              <a:t>Detecția erorilor GNSS</a:t>
            </a:r>
            <a:endParaRPr lang="ro-RO" noProof="0" dirty="0"/>
          </a:p>
          <a:p>
            <a:r>
              <a:rPr lang="ro-RO" b="1" noProof="0" dirty="0">
                <a:solidFill>
                  <a:srgbClr val="F5FBFF"/>
                </a:solidFill>
              </a:rPr>
              <a:t>Validare pe STM32</a:t>
            </a:r>
            <a:endParaRPr lang="ro-RO" noProof="0" dirty="0"/>
          </a:p>
          <a:p>
            <a:pPr marL="0" indent="0">
              <a:buNone/>
            </a:pPr>
            <a:endParaRPr lang="ro-RO" noProof="0" dirty="0"/>
          </a:p>
          <a:p>
            <a:endParaRPr lang="ro-RO" noProof="0" dirty="0"/>
          </a:p>
          <a:p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266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ACDC-61F8-94C0-F235-7CB05E60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5B20B-5830-D007-294C-1D9AACDAA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Achiziția datelor în NOS3 și COSMOS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CB786D-6674-9377-D53C-F88C35BAC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11" y="2016871"/>
            <a:ext cx="6144156" cy="3833955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3F63B6B3-9364-5112-747C-26C88D913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2850601"/>
              </p:ext>
            </p:extLst>
          </p:nvPr>
        </p:nvGraphicFramePr>
        <p:xfrm>
          <a:off x="7052733" y="1853248"/>
          <a:ext cx="4157133" cy="4285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7091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4C61-3B22-2AF9-0D58-14E39BA5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CE4C-7456-8B54-6797-26B336E9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Structura pachetelor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2C389E8-AB54-7E9C-3596-10C219991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1046"/>
              </p:ext>
            </p:extLst>
          </p:nvPr>
        </p:nvGraphicFramePr>
        <p:xfrm>
          <a:off x="1095558" y="1353008"/>
          <a:ext cx="9677215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7665">
                  <a:extLst>
                    <a:ext uri="{9D8B030D-6E8A-4147-A177-3AD203B41FA5}">
                      <a16:colId xmlns:a16="http://schemas.microsoft.com/office/drawing/2014/main" val="2945078074"/>
                    </a:ext>
                  </a:extLst>
                </a:gridCol>
                <a:gridCol w="3400426">
                  <a:extLst>
                    <a:ext uri="{9D8B030D-6E8A-4147-A177-3AD203B41FA5}">
                      <a16:colId xmlns:a16="http://schemas.microsoft.com/office/drawing/2014/main" val="2443804297"/>
                    </a:ext>
                  </a:extLst>
                </a:gridCol>
                <a:gridCol w="4429124">
                  <a:extLst>
                    <a:ext uri="{9D8B030D-6E8A-4147-A177-3AD203B41FA5}">
                      <a16:colId xmlns:a16="http://schemas.microsoft.com/office/drawing/2014/main" val="857998425"/>
                    </a:ext>
                  </a:extLst>
                </a:gridCol>
              </a:tblGrid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ro-RO" dirty="0"/>
                        <a:t>GENERIC_IMU_DATA_TLM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Câmp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Descriere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30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X_LINEAR_ACCELERATION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Accelerație liniară pe axa X [</a:t>
                      </a:r>
                      <a:r>
                        <a:rPr lang="ro-RO" dirty="0"/>
                        <a:t>m/s^2</a:t>
                      </a:r>
                      <a:r>
                        <a:rPr lang="en-US" dirty="0"/>
                        <a:t>]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3890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X_ANGULAR_RATE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Rată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unghiulară</a:t>
                      </a:r>
                      <a:r>
                        <a:rPr lang="en-US" dirty="0"/>
                        <a:t> pe </a:t>
                      </a:r>
                      <a:r>
                        <a:rPr lang="en-US" dirty="0" err="1"/>
                        <a:t>axa</a:t>
                      </a:r>
                      <a:r>
                        <a:rPr lang="en-US" dirty="0"/>
                        <a:t> X [rad/s]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0397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Y_LINEAR_ACCELERATION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Accelerație liniară pe axa Y [</a:t>
                      </a:r>
                      <a:r>
                        <a:rPr lang="ro-RO" dirty="0"/>
                        <a:t>m/s^2</a:t>
                      </a:r>
                      <a:r>
                        <a:rPr lang="en-US" dirty="0"/>
                        <a:t>]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1997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Y_ANGULAR_RATE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Rată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unghiulară</a:t>
                      </a:r>
                      <a:r>
                        <a:rPr lang="en-US" dirty="0"/>
                        <a:t> pe </a:t>
                      </a:r>
                      <a:r>
                        <a:rPr lang="en-US" dirty="0" err="1"/>
                        <a:t>axa</a:t>
                      </a:r>
                      <a:r>
                        <a:rPr lang="en-US" dirty="0"/>
                        <a:t> Y [rad/s]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641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Z_LINEAR_ACCELERATION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Accelerație liniară pe axa Z [</a:t>
                      </a:r>
                      <a:r>
                        <a:rPr lang="ro-RO" dirty="0"/>
                        <a:t>m/s^2</a:t>
                      </a:r>
                      <a:r>
                        <a:rPr lang="en-US" dirty="0"/>
                        <a:t>]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8965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Z_ANGULAR_RATE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Rată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unghiulară</a:t>
                      </a:r>
                      <a:r>
                        <a:rPr lang="en-US" dirty="0"/>
                        <a:t> pe </a:t>
                      </a:r>
                      <a:r>
                        <a:rPr lang="en-US" dirty="0" err="1"/>
                        <a:t>axa</a:t>
                      </a:r>
                      <a:r>
                        <a:rPr lang="en-US" dirty="0"/>
                        <a:t> Z [rad/s]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00309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C86D40B-0FC8-14DA-B9FD-56B29044D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41285"/>
              </p:ext>
            </p:extLst>
          </p:nvPr>
        </p:nvGraphicFramePr>
        <p:xfrm>
          <a:off x="810345" y="4076700"/>
          <a:ext cx="10247643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996">
                  <a:extLst>
                    <a:ext uri="{9D8B030D-6E8A-4147-A177-3AD203B41FA5}">
                      <a16:colId xmlns:a16="http://schemas.microsoft.com/office/drawing/2014/main" val="2170954772"/>
                    </a:ext>
                  </a:extLst>
                </a:gridCol>
                <a:gridCol w="4359286">
                  <a:extLst>
                    <a:ext uri="{9D8B030D-6E8A-4147-A177-3AD203B41FA5}">
                      <a16:colId xmlns:a16="http://schemas.microsoft.com/office/drawing/2014/main" val="2443804297"/>
                    </a:ext>
                  </a:extLst>
                </a:gridCol>
                <a:gridCol w="4052361">
                  <a:extLst>
                    <a:ext uri="{9D8B030D-6E8A-4147-A177-3AD203B41FA5}">
                      <a16:colId xmlns:a16="http://schemas.microsoft.com/office/drawing/2014/main" val="857998425"/>
                    </a:ext>
                  </a:extLst>
                </a:gridCol>
              </a:tblGrid>
              <a:tr h="394335">
                <a:tc rowSpan="6">
                  <a:txBody>
                    <a:bodyPr/>
                    <a:lstStyle/>
                    <a:p>
                      <a:pPr algn="ctr"/>
                      <a:r>
                        <a:rPr lang="ro-RO" dirty="0"/>
                        <a:t>NOVATEL_OEM615_DATA_TLM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Câmp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Descriere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430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GPS_WEEKS + SECONDS + FRAC_SECS</a:t>
                      </a:r>
                      <a:endParaRPr lang="ro-R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Timp GNSS</a:t>
                      </a:r>
                      <a:endParaRPr lang="ro-R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3890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ECEF_X + ECEF_Y + ECEF_Z</a:t>
                      </a:r>
                      <a:endParaRPr lang="ro-R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Poziție ECEF pe ax</a:t>
                      </a:r>
                      <a:r>
                        <a:rPr lang="en-US" dirty="0" err="1"/>
                        <a:t>ele</a:t>
                      </a:r>
                      <a:r>
                        <a:rPr lang="en-US" dirty="0"/>
                        <a:t> X, Y, Z</a:t>
                      </a:r>
                      <a:r>
                        <a:rPr lang="pl-PL" dirty="0"/>
                        <a:t> [m]</a:t>
                      </a:r>
                      <a:endParaRPr lang="ro-R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0397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VEL_X + VEL_Y + VEL_Z</a:t>
                      </a:r>
                      <a:endParaRPr lang="ro-R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Viteză</a:t>
                      </a:r>
                      <a:r>
                        <a:rPr lang="en-US" dirty="0"/>
                        <a:t> ECEF pe </a:t>
                      </a:r>
                      <a:r>
                        <a:rPr lang="en-US" dirty="0" err="1"/>
                        <a:t>axele</a:t>
                      </a:r>
                      <a:r>
                        <a:rPr lang="en-US" dirty="0"/>
                        <a:t> X, Y, Z [m/s]</a:t>
                      </a:r>
                      <a:endParaRPr lang="ro-R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1774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LAT + LON</a:t>
                      </a:r>
                      <a:endParaRPr lang="ro-R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Latitudine</a:t>
                      </a:r>
                      <a:r>
                        <a:rPr lang="ro-RO" dirty="0"/>
                        <a:t> și l</a:t>
                      </a:r>
                      <a:r>
                        <a:rPr lang="en-US" dirty="0" err="1"/>
                        <a:t>ongitudine</a:t>
                      </a:r>
                      <a:r>
                        <a:rPr lang="en-US" dirty="0"/>
                        <a:t> [grade </a:t>
                      </a:r>
                      <a:r>
                        <a:rPr lang="en-US" dirty="0" err="1"/>
                        <a:t>zecimale</a:t>
                      </a:r>
                      <a:r>
                        <a:rPr lang="en-US" dirty="0"/>
                        <a:t>]</a:t>
                      </a:r>
                      <a:endParaRPr lang="ro-R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8145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ALT</a:t>
                      </a:r>
                      <a:endParaRPr lang="ro-R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Altitudine</a:t>
                      </a:r>
                      <a:r>
                        <a:rPr lang="en-US" dirty="0"/>
                        <a:t> [m]</a:t>
                      </a:r>
                      <a:endParaRPr lang="ro-R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66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56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C3666-AB4F-6C40-A6BB-0A43CA17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290F-3E8C-15EB-C958-C85DA4AA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de detecție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E07ECCA-8B73-E761-1D95-0714D1F335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41916549"/>
                  </p:ext>
                </p:extLst>
              </p:nvPr>
            </p:nvGraphicFramePr>
            <p:xfrm>
              <a:off x="499518" y="1621044"/>
              <a:ext cx="11192963" cy="41781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871">
                      <a:extLst>
                        <a:ext uri="{9D8B030D-6E8A-4147-A177-3AD203B41FA5}">
                          <a16:colId xmlns:a16="http://schemas.microsoft.com/office/drawing/2014/main" val="3016657566"/>
                        </a:ext>
                      </a:extLst>
                    </a:gridCol>
                    <a:gridCol w="2412488">
                      <a:extLst>
                        <a:ext uri="{9D8B030D-6E8A-4147-A177-3AD203B41FA5}">
                          <a16:colId xmlns:a16="http://schemas.microsoft.com/office/drawing/2014/main" val="3150250193"/>
                        </a:ext>
                      </a:extLst>
                    </a:gridCol>
                    <a:gridCol w="3371091">
                      <a:extLst>
                        <a:ext uri="{9D8B030D-6E8A-4147-A177-3AD203B41FA5}">
                          <a16:colId xmlns:a16="http://schemas.microsoft.com/office/drawing/2014/main" val="1454711153"/>
                        </a:ext>
                      </a:extLst>
                    </a:gridCol>
                    <a:gridCol w="3703513">
                      <a:extLst>
                        <a:ext uri="{9D8B030D-6E8A-4147-A177-3AD203B41FA5}">
                          <a16:colId xmlns:a16="http://schemas.microsoft.com/office/drawing/2014/main" val="1866819666"/>
                        </a:ext>
                      </a:extLst>
                    </a:gridCol>
                  </a:tblGrid>
                  <a:tr h="481719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Eroare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Flag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Descriere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Ecuație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4593457"/>
                      </a:ext>
                    </a:extLst>
                  </a:tr>
                  <a:tr h="821993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Timp GNSS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time_jump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Discontinuități în timpul GNSS.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ro-RO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𝐺𝑁𝑆𝑆</m:t>
                                    </m:r>
                                  </m:sub>
                                </m:sSub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𝐺𝑁𝑆𝑆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sSub>
                                  <m:sSubPr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𝐺𝑁𝑆𝑆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4819722"/>
                      </a:ext>
                    </a:extLst>
                  </a:tr>
                  <a:tr h="830146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GNSS întârziat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gnss_stale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Niciun pachet GNSS într-un interval admis.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1860637"/>
                      </a:ext>
                    </a:extLst>
                  </a:tr>
                  <a:tr h="854112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Salt poziție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pos_jump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Modificări bruște ale poziției ECEF.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𝐸𝐶𝐸𝐹</m:t>
                                    </m:r>
                                  </m:sub>
                                </m:sSub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𝐸𝐶𝐸𝐹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𝐺𝑁𝑆𝑆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6908056"/>
                      </a:ext>
                    </a:extLst>
                  </a:tr>
                  <a:tr h="1190205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Viteză inconsistentă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velocity_mismatch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Comparare viteză raportată de GNSS cu viteza calculată din pozițiile ECEF succesive.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𝐺𝑁𝑆𝑆</m:t>
                                    </m:r>
                                  </m:sub>
                                </m:sSub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=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𝑉𝐸</m:t>
                                    </m:r>
                                    <m:sSubSup>
                                      <m:sSubSup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𝑋</m:t>
                                        </m:r>
                                      </m:sub>
                                      <m:sup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𝑉𝐸</m:t>
                                    </m:r>
                                    <m:sSubSup>
                                      <m:sSubSup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𝑌</m:t>
                                        </m:r>
                                      </m:sub>
                                      <m:sup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𝑉𝐸</m:t>
                                    </m:r>
                                    <m:sSubSup>
                                      <m:sSubSup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𝑍</m:t>
                                        </m:r>
                                      </m:sub>
                                      <m:sup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21211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E07ECCA-8B73-E761-1D95-0714D1F335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41916549"/>
                  </p:ext>
                </p:extLst>
              </p:nvPr>
            </p:nvGraphicFramePr>
            <p:xfrm>
              <a:off x="499518" y="1621044"/>
              <a:ext cx="11192963" cy="41781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871">
                      <a:extLst>
                        <a:ext uri="{9D8B030D-6E8A-4147-A177-3AD203B41FA5}">
                          <a16:colId xmlns:a16="http://schemas.microsoft.com/office/drawing/2014/main" val="3016657566"/>
                        </a:ext>
                      </a:extLst>
                    </a:gridCol>
                    <a:gridCol w="2412488">
                      <a:extLst>
                        <a:ext uri="{9D8B030D-6E8A-4147-A177-3AD203B41FA5}">
                          <a16:colId xmlns:a16="http://schemas.microsoft.com/office/drawing/2014/main" val="3150250193"/>
                        </a:ext>
                      </a:extLst>
                    </a:gridCol>
                    <a:gridCol w="3371091">
                      <a:extLst>
                        <a:ext uri="{9D8B030D-6E8A-4147-A177-3AD203B41FA5}">
                          <a16:colId xmlns:a16="http://schemas.microsoft.com/office/drawing/2014/main" val="1454711153"/>
                        </a:ext>
                      </a:extLst>
                    </a:gridCol>
                    <a:gridCol w="3703513">
                      <a:extLst>
                        <a:ext uri="{9D8B030D-6E8A-4147-A177-3AD203B41FA5}">
                          <a16:colId xmlns:a16="http://schemas.microsoft.com/office/drawing/2014/main" val="1866819666"/>
                        </a:ext>
                      </a:extLst>
                    </a:gridCol>
                  </a:tblGrid>
                  <a:tr h="481719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Eroare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Flag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Descriere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Ecuație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4593457"/>
                      </a:ext>
                    </a:extLst>
                  </a:tr>
                  <a:tr h="821993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Timp GNSS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time_jump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Discontinuități în timpul GNSS.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467" t="-59259" r="-658" b="-35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819722"/>
                      </a:ext>
                    </a:extLst>
                  </a:tr>
                  <a:tr h="830146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GNSS întârziat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gnss_stale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Niciun pachet GNSS într-un interval admis.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1860637"/>
                      </a:ext>
                    </a:extLst>
                  </a:tr>
                  <a:tr h="854112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Salt poziție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pos_jump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Modificări bruște ale poziției ECEF.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467" t="-251429" r="-658" b="-14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908056"/>
                      </a:ext>
                    </a:extLst>
                  </a:tr>
                  <a:tr h="1190205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Viteză inconsistentă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velocity_mismatch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Comparare viteză raportată de GNSS cu viteza calculată din pozițiile ECEF succesive.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467" t="-251020" r="-658" b="-1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21211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2477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69FDC-36AF-738D-C869-F700AAA4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E11F-1607-5BA4-C858-70E2F29D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de detecție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CE0210D-0E71-1129-4F36-B1D4DF694B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20775169"/>
                  </p:ext>
                </p:extLst>
              </p:nvPr>
            </p:nvGraphicFramePr>
            <p:xfrm>
              <a:off x="499518" y="1729732"/>
              <a:ext cx="11192963" cy="3499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871">
                      <a:extLst>
                        <a:ext uri="{9D8B030D-6E8A-4147-A177-3AD203B41FA5}">
                          <a16:colId xmlns:a16="http://schemas.microsoft.com/office/drawing/2014/main" val="3016657566"/>
                        </a:ext>
                      </a:extLst>
                    </a:gridCol>
                    <a:gridCol w="2412488">
                      <a:extLst>
                        <a:ext uri="{9D8B030D-6E8A-4147-A177-3AD203B41FA5}">
                          <a16:colId xmlns:a16="http://schemas.microsoft.com/office/drawing/2014/main" val="3150250193"/>
                        </a:ext>
                      </a:extLst>
                    </a:gridCol>
                    <a:gridCol w="3202649">
                      <a:extLst>
                        <a:ext uri="{9D8B030D-6E8A-4147-A177-3AD203B41FA5}">
                          <a16:colId xmlns:a16="http://schemas.microsoft.com/office/drawing/2014/main" val="1454711153"/>
                        </a:ext>
                      </a:extLst>
                    </a:gridCol>
                    <a:gridCol w="3871955">
                      <a:extLst>
                        <a:ext uri="{9D8B030D-6E8A-4147-A177-3AD203B41FA5}">
                          <a16:colId xmlns:a16="http://schemas.microsoft.com/office/drawing/2014/main" val="1866819666"/>
                        </a:ext>
                      </a:extLst>
                    </a:gridCol>
                  </a:tblGrid>
                  <a:tr h="472047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Eroare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Flag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Descriere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Ecuație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4593457"/>
                      </a:ext>
                    </a:extLst>
                  </a:tr>
                  <a:tr h="371427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GNSS-IMU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imu_mismatch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GNSS indică o schimbare de mișcare, dar IMU n</a:t>
                          </a:r>
                          <a:r>
                            <a:rPr lang="ro-RO" dirty="0"/>
                            <a:t>u.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𝐼𝑀𝑈</m:t>
                                    </m:r>
                                  </m:sub>
                                </m:sSub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𝑋</m:t>
                                        </m:r>
                                      </m:sub>
                                      <m:sup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 </m:t>
                                    </m:r>
                                    <m:sSubSup>
                                      <m:sSubSup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𝑌</m:t>
                                        </m:r>
                                      </m:sub>
                                      <m:sup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 </m:t>
                                    </m:r>
                                    <m:sSubSup>
                                      <m:sSubSup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𝑍</m:t>
                                        </m:r>
                                      </m:sub>
                                      <m:sup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400868"/>
                      </a:ext>
                    </a:extLst>
                  </a:tr>
                  <a:tr h="371427"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Heading-yaw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heading_mismatch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Compară rata de schimbare a direcției GNSS cu rata </a:t>
                          </a:r>
                          <a:r>
                            <a:rPr lang="ro-RO" dirty="0" err="1"/>
                            <a:t>yaw</a:t>
                          </a:r>
                          <a:r>
                            <a:rPr lang="ro-RO" dirty="0"/>
                            <a:t> măsurată de IMU.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𝜓</m:t>
                                    </m:r>
                                  </m:sub>
                                </m:sSub>
                                <m:r>
                                  <a:rPr lang="ro-RO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=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o-RO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ro-RO" sz="18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𝐺𝑁𝑆𝑆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  <m:r>
                                      <a:rPr lang="ro-RO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𝑍</m:t>
                                        </m:r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, </m:t>
                                        </m:r>
                                        <m:r>
                                          <a:rPr lang="ro-RO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𝐼𝑀𝑈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ro-RO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𝐺𝑁𝑆𝑆</m:t>
                                    </m:r>
                                  </m:sub>
                                </m:sSub>
                                <m:r>
                                  <a:rPr lang="en-US" sz="1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𝐺𝑁𝑆𝑆</m:t>
                                        </m:r>
                                      </m:sub>
                                    </m:sSub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)− </m:t>
                                    </m:r>
                                    <m:sSub>
                                      <m:sSubPr>
                                        <m:ctrlP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8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𝐺𝑁𝑆𝑆</m:t>
                                        </m:r>
                                      </m:sub>
                                    </m:sSub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en-US" sz="1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2794018"/>
                      </a:ext>
                    </a:extLst>
                  </a:tr>
                  <a:tr h="371427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Poziție </a:t>
                          </a:r>
                          <a:r>
                            <a:rPr lang="ro-RO" dirty="0" err="1"/>
                            <a:t>inghețată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frozen_position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L</a:t>
                          </a:r>
                          <a:r>
                            <a:rPr lang="it-IT" dirty="0"/>
                            <a:t>atitudinea, longitudinea și altitudinea rămân constante, deși viteza indică mișcare.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998089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CE0210D-0E71-1129-4F36-B1D4DF694B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20775169"/>
                  </p:ext>
                </p:extLst>
              </p:nvPr>
            </p:nvGraphicFramePr>
            <p:xfrm>
              <a:off x="499518" y="1729732"/>
              <a:ext cx="11192963" cy="34991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5871">
                      <a:extLst>
                        <a:ext uri="{9D8B030D-6E8A-4147-A177-3AD203B41FA5}">
                          <a16:colId xmlns:a16="http://schemas.microsoft.com/office/drawing/2014/main" val="3016657566"/>
                        </a:ext>
                      </a:extLst>
                    </a:gridCol>
                    <a:gridCol w="2412488">
                      <a:extLst>
                        <a:ext uri="{9D8B030D-6E8A-4147-A177-3AD203B41FA5}">
                          <a16:colId xmlns:a16="http://schemas.microsoft.com/office/drawing/2014/main" val="3150250193"/>
                        </a:ext>
                      </a:extLst>
                    </a:gridCol>
                    <a:gridCol w="3202649">
                      <a:extLst>
                        <a:ext uri="{9D8B030D-6E8A-4147-A177-3AD203B41FA5}">
                          <a16:colId xmlns:a16="http://schemas.microsoft.com/office/drawing/2014/main" val="1454711153"/>
                        </a:ext>
                      </a:extLst>
                    </a:gridCol>
                    <a:gridCol w="3871955">
                      <a:extLst>
                        <a:ext uri="{9D8B030D-6E8A-4147-A177-3AD203B41FA5}">
                          <a16:colId xmlns:a16="http://schemas.microsoft.com/office/drawing/2014/main" val="1866819666"/>
                        </a:ext>
                      </a:extLst>
                    </a:gridCol>
                  </a:tblGrid>
                  <a:tr h="472047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Eroare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Flag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Descriere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Ecuație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4593457"/>
                      </a:ext>
                    </a:extLst>
                  </a:tr>
                  <a:tr h="649669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GNSS-IMU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imu_mismatch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pt-BR" dirty="0"/>
                            <a:t>GNSS indică o schimbare de mișcare, dar IMU n</a:t>
                          </a:r>
                          <a:r>
                            <a:rPr lang="ro-RO" dirty="0"/>
                            <a:t>u.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151" t="-74528" r="-629" b="-3839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40086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Heading-yaw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heading_mismatch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Compară rata de schimbare a direcției GNSS cu rata </a:t>
                          </a:r>
                          <a:r>
                            <a:rPr lang="ro-RO" dirty="0" err="1"/>
                            <a:t>yaw</a:t>
                          </a:r>
                          <a:r>
                            <a:rPr lang="ro-RO" dirty="0"/>
                            <a:t> măsurată de IMU.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151" t="-94388" r="-629" b="-107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279401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Poziție </a:t>
                          </a:r>
                          <a:r>
                            <a:rPr lang="ro-RO" dirty="0" err="1"/>
                            <a:t>inghețată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 err="1"/>
                            <a:t>frozen_position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L</a:t>
                          </a:r>
                          <a:r>
                            <a:rPr lang="it-IT" dirty="0"/>
                            <a:t>atitudinea, longitudinea și altitudinea rămân constante, deși viteza indică mișcare.</a:t>
                          </a:r>
                          <a:endParaRPr lang="ro-RO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998089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812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919C-CAE5-FAAA-B673-99BFC6DE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Rezultate – caz nominal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7C6D02-D814-2AF0-29F0-21A2110B3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87" y="1355832"/>
            <a:ext cx="3510001" cy="234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9C2294-8288-E98C-0C75-32E515A0B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951" y="1369861"/>
            <a:ext cx="3493124" cy="23147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AC61A2-D69B-D273-E951-015A06375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87" y="3855810"/>
            <a:ext cx="3493124" cy="2297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C2E181-E851-4C86-2ABB-D069E7232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951" y="3855810"/>
            <a:ext cx="3493124" cy="228139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95BE568-E3BD-0BCB-099F-1B02FD97B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2765" y="1376052"/>
            <a:ext cx="3493124" cy="22883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42A9929-8589-9FB8-3B17-C9388AF40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8115" y="3855810"/>
            <a:ext cx="3507774" cy="22797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DCFB5F-8518-1ECC-C940-3000EC5FB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6217" y="2026326"/>
            <a:ext cx="5060119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B96C-92D5-9E48-FE17-7E1773E6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AD91-CEB6-3743-1C9F-A7004F00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Rezultate – caz erori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8ACE0C-B06A-3F36-E25A-C7DEB1AF2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11445" y="1355832"/>
            <a:ext cx="3506685" cy="234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B588EB-8282-DE5D-75A4-4721CD6E9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27896" y="1369861"/>
            <a:ext cx="3485233" cy="23147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5824E3-0246-D420-5EB6-839945EDD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13238" y="3855810"/>
            <a:ext cx="3486221" cy="2297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294FE9-4BB9-6CB2-2312-B37A9A48E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23951" y="3857161"/>
            <a:ext cx="3493124" cy="22786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5E47028-6E8D-B530-9BD3-6DB45461C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53673" y="1376052"/>
            <a:ext cx="3491307" cy="22883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8C2685-C245-67D7-48E1-F4E3AF1ABD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83813" y="3855810"/>
            <a:ext cx="3416378" cy="2279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53E70F-85C8-83E7-F80A-6DABB0C7EC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5940" y="2020230"/>
            <a:ext cx="5060119" cy="33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7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338C-DD48-A19A-BFEA-E214938E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86A7-4423-68BF-8A82-C330E06D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Concluzii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55F2-A8BE-EFB7-8711-2ACC2AC77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Flux complet validat</a:t>
            </a:r>
          </a:p>
          <a:p>
            <a:r>
              <a:rPr lang="ro-RO" dirty="0"/>
              <a:t>Erorile sunt interpretate individual</a:t>
            </a:r>
          </a:p>
          <a:p>
            <a:r>
              <a:rPr lang="ro-RO" dirty="0"/>
              <a:t>Pragurile fixe trebuie calibrate (în funcție de platformă)</a:t>
            </a:r>
          </a:p>
          <a:p>
            <a:r>
              <a:rPr lang="ro-RO" dirty="0"/>
              <a:t>Filtru Kalman – util, dar costisitor</a:t>
            </a:r>
          </a:p>
          <a:p>
            <a:endParaRPr lang="ro-RO" dirty="0"/>
          </a:p>
          <a:p>
            <a:r>
              <a:rPr lang="ro-RO" b="1" dirty="0"/>
              <a:t>Direcții de dezvoltare</a:t>
            </a:r>
          </a:p>
          <a:p>
            <a:pPr lvl="1"/>
            <a:r>
              <a:rPr lang="ro-RO" dirty="0"/>
              <a:t>Praguri adaptive în funcție de mișcare</a:t>
            </a:r>
          </a:p>
          <a:p>
            <a:pPr lvl="1"/>
            <a:r>
              <a:rPr lang="ro-RO" dirty="0"/>
              <a:t>Analiză pe fereastră temporală</a:t>
            </a:r>
          </a:p>
          <a:p>
            <a:pPr lvl="1"/>
            <a:r>
              <a:rPr lang="ro-RO" dirty="0"/>
              <a:t>Integrare filtru Kalman</a:t>
            </a:r>
          </a:p>
        </p:txBody>
      </p:sp>
    </p:spTree>
    <p:extLst>
      <p:ext uri="{BB962C8B-B14F-4D97-AF65-F5344CB8AC3E}">
        <p14:creationId xmlns:p14="http://schemas.microsoft.com/office/powerpoint/2010/main" val="2715384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5B7047-2B9F-3DB1-35E5-8211894FF729}"/>
              </a:ext>
            </a:extLst>
          </p:cNvPr>
          <p:cNvSpPr txBox="1"/>
          <p:nvPr/>
        </p:nvSpPr>
        <p:spPr>
          <a:xfrm>
            <a:off x="2724150" y="2857499"/>
            <a:ext cx="6753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4800" dirty="0"/>
              <a:t>Vă mulțumesc!</a:t>
            </a:r>
          </a:p>
        </p:txBody>
      </p:sp>
    </p:spTree>
    <p:extLst>
      <p:ext uri="{BB962C8B-B14F-4D97-AF65-F5344CB8AC3E}">
        <p14:creationId xmlns:p14="http://schemas.microsoft.com/office/powerpoint/2010/main" val="95816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</TotalTime>
  <Words>590</Words>
  <Application>Microsoft Office PowerPoint</Application>
  <PresentationFormat>Widescreen</PresentationFormat>
  <Paragraphs>115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Cambria Math</vt:lpstr>
      <vt:lpstr>Century Gothic</vt:lpstr>
      <vt:lpstr>Wingdings 3</vt:lpstr>
      <vt:lpstr>Ion</vt:lpstr>
      <vt:lpstr>Sistem embedded pentru detecția anomaliilor GNSS</vt:lpstr>
      <vt:lpstr>Context și problemă</vt:lpstr>
      <vt:lpstr>Obiective</vt:lpstr>
      <vt:lpstr>Achiziția datelor în NOS3 și COSMOS</vt:lpstr>
      <vt:lpstr>Structura pachetelor</vt:lpstr>
      <vt:lpstr>Algoritmul de detecție</vt:lpstr>
      <vt:lpstr>Algoritmul de detecție</vt:lpstr>
      <vt:lpstr>Rezultate – caz nominal</vt:lpstr>
      <vt:lpstr>Rezultate – caz erori</vt:lpstr>
      <vt:lpstr>Concluzii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Iustinian Serban</dc:creator>
  <cp:lastModifiedBy>Iustinian Serban</cp:lastModifiedBy>
  <cp:revision>1</cp:revision>
  <dcterms:created xsi:type="dcterms:W3CDTF">2026-05-30T21:31:54Z</dcterms:created>
  <dcterms:modified xsi:type="dcterms:W3CDTF">2026-05-30T22:30:56Z</dcterms:modified>
</cp:coreProperties>
</file>